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Inter SemiBold"/>
      <p:regular r:id="rId20"/>
      <p:bold r:id="rId21"/>
      <p:italic r:id="rId22"/>
      <p:boldItalic r:id="rId23"/>
    </p:embeddedFont>
    <p:embeddedFont>
      <p:font typeface="Inter"/>
      <p:bold r:id="rId24"/>
      <p:boldItalic r:id="rId25"/>
    </p:embeddedFont>
    <p:embeddedFont>
      <p:font typeface="Inter ExtraBold"/>
      <p:bold r:id="rId26"/>
      <p:boldItalic r:id="rId27"/>
    </p:embeddedFont>
    <p:embeddedFont>
      <p:font typeface="Inter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bold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ExtraBold-bold.fntdata"/><Relationship Id="rId25" Type="http://schemas.openxmlformats.org/officeDocument/2006/relationships/font" Target="fonts/Inter-boldItalic.fntdata"/><Relationship Id="rId28" Type="http://schemas.openxmlformats.org/officeDocument/2006/relationships/font" Target="fonts/InterMedium-regular.fntdata"/><Relationship Id="rId27" Type="http://schemas.openxmlformats.org/officeDocument/2006/relationships/font" Target="fonts/Inter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boldItalic.fntdata"/><Relationship Id="rId30" Type="http://schemas.openxmlformats.org/officeDocument/2006/relationships/font" Target="fonts/Inter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4869c0d5440cee46_0_2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4869c0d5440cee46_0_2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Welcome leadership to the Smart Recovery Phase 1 proposal review.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objective today is to outline a targeted self-service portal designed to automate routine collections, protect vulnerable accounts, and deliver rapid operational returns.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At a high level, Phase 1 targets a net value of £2.40M with an 823% ROI, achieving capital payback in just 1.3 months while saving over 2,400 frontline staff hours.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Emphasize that execution carries low risk because it focuses strictly on a targeted customer segment without core platform disruption.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4869c0d5440cee46_0_3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4869c0d5440cee46_0_3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Core Recommendation:</a:t>
            </a: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Implement a lightweight self-service portal for straightforward cases (38% target) to clear balances, set 1–30 day payment promises, or structure £50–£5,000 installment plans.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Built-In Safeguards:</a:t>
            </a: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Automatically pause collections for vulnerable customers and open disputes, ensuring seamless context transfer to representatives.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Financial &amp; Regulatory Return:</a:t>
            </a: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Deliver £2.40M in annual net value (£2.37M net revenue uplift, £30.8k cost savings) against a £260k build cost, yielding an 823% ROI, 1.3-month payback, and immediate FCA Consumer Duty alignment.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Execution Credibility:</a:t>
            </a: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Low risk and high focus, connecting to existing systems without costly core banking overhauls while automating routine tasks so senior staff can focus on complex hardship decisions.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4869c0d5440cee46_0_2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4869c0d5440cee46_0_2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Customer Journeys (Retention &amp; Trust):</a:t>
            </a: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Focuses on the 38% straightforward cases needing self-service. Eliminates access barriers via secure OTP login (KAN-4), provides transparent balances and flexible plans (KAN-5, KAN-6) to prevent drop-off, and secures cash flow through digital promise-to-pay with 48h reminders (KAN-20).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Triage &amp; Safeguards (Risk &amp; Capacity):</a:t>
            </a: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Reclaims 2,400+ annual frontline hours by automating case routing (KAN-7), protects vulnerable customers with an automated 30-day "Breathing Space" hardship freeze (KAN-11), and prevents customer repetition using specialist handoff summaries (KAN-15).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Integration &amp; Governance (Regulatory &amp; Data Integrity):</a:t>
            </a: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Fulfills mandatory 6-year statutory audit requirements through dual-store tamper-evident logging (KAN-8), halts uncoordinated outreach via 24h sync pipelines (KAN-12) and daily batch reconciliations (KAN-10), and enables active tracking with volumetric management reporting (KAN-13).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4869c0d5440cee46_0_2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4869c0d5440cee46_0_2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Customer Friction ("Slow, Repetitive, Confusing"):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AutoNum type="alphaLcPeriod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50.37% of accounts endure uncoordinated outreach (up to 7 separate attempts).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AutoNum type="alphaLcPeriod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Duplicate status checks account for 28.9% of activities spread across 4 separate silos.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AutoNum type="alphaLcPeriod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Handover friction persists across 58 representatives working in 4 distinct platforms without synced history.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Collections Reps ("Fragmented &amp; Exhausting"):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AutoNum type="alphaLcPeriod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43.37% of agent effort is consumed by manual administrative logging.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AutoNum type="alphaLcPeriod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58 representatives rely on concurrent offline spreadsheets, creating severe version conflicts.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AutoNum type="alphaLcPeriod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1,423 escalations create bottlenecks that drain over 200 senior staff hours.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Team Leaders ("Unclear and Unreliable"):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AutoNum type="alphaLcPeriod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£3.05M sits in overdue balances without live management visibility.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AutoNum type="alphaLcPeriod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1,458 manual reconciliation tasks consume over 218 staff hours.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AutoNum type="alphaLcPeriod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Regulatory exposure includes 519 vulnerable accounts lacking tailored handling, alongside 1,007 promise accounts split across conflicting status codes.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4869c0d5440cee46_0_2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4869c0d5440cee46_0_2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Break down the financial return and operational savings by initiative.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Priority 1 is the Eligible Payment Plan selection feature, delivering £1.46M in revenue uplift (£1.39M net benefit) and saving 8 minutes per case.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Priority 2 is the Digital Promise to Pay capture, yielding £874,920 in net benefit and saving 11 minutes per case.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Highlight foundational enablers, Self-Serve Balance View (404 hrs saved) and Rules-Based Routing (650 hrs saved), which combined deliver £2.37M in annual revenue uplift and full capital payback in under 2 months.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4869c0d5440cee46_0_1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h4869c0d5440cee46_0_1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Eligibility Rule:</a:t>
            </a: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Emphasize that strict eligibility rules apply: only straightforward cases (the target 38%) are allowed to use the self-service portal.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Core Journeys (In Scope):</a:t>
            </a: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Covers secure OTP verification (KAN-4), balance dashboards (KAN-5), promise-to-pay calendars (KAN-20), 3–12 month installment plans (KAN-6), automated contact triage (KAN-7), and 30-day hardship intake freezes (KAN-11).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Technical Enablers (In Scope):</a:t>
            </a: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Includes 13-minute session timeouts (KAN-14), 6-year tamper-evident audit logging (KAN-8), context-aware handoff summary screens (KAN-15), daily ledger reconciliations (KAN-10), 24-hour legacy sync pipelines (KAN-12), and daily ROI performance reporting (KAN-13).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Boundaries &amp; Out of Scope:</a:t>
            </a: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Explicitly excludes detailed clickstream history sync (OP-06), automated hardship/vulnerability negotiations, legal escalations and dispute uploads, full legacy core-platform replacements, and online dispute document uploads.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Key Assumptions &amp; Credibility:</a:t>
            </a: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Relies on 24-hour API responsiveness, approved Risk/Compliance policies, and the 38% straightforward case ratio to deliver £2.40M annual value (£2.37M net revenue, £30.8k savings) against a £260k build cost with an 823% ROI and 1.3-month payback.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4869c0d5440cee46_0_2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h4869c0d5440cee46_0_2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Customer Journeys (Retention &amp; Trust):</a:t>
            </a: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Targets the 38% straightforward cases for self-service by eliminating access barriers via secure OTP login (KAN-4), providing transparent balances and flexible plans (KAN-5, KAN-6), and securing cash flow through digital promise-to-pay with 48h reminders (KAN-20).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Triage &amp; Safeguards (Risk &amp; Capacity):</a:t>
            </a: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Reclaims 2,400+ annual frontline hours via automated case routing (KAN-7), protects vulnerable customers with a 30-day "Breathing Space" hardship freeze (KAN-11), and prevents customer repetition using specialist handoff summaries (KAN-15).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Integration &amp; Governance (Regulatory &amp; Data Integrity):</a:t>
            </a: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Fulfills mandatory 6-year statutory audits via dual-store tamper-evident logging (KAN-8), halts uncoordinated outreach using 24h sync pipelines (KAN-12) and daily batch reconciliations (KAN-10), and enables active tracking with volumetric management reporting (KAN-13).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4869c0d5440cee46_0_29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h4869c0d5440cee46_0_29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Overview:</a:t>
            </a: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Walk through the 9-screen interactive prototype, showing the flow from authentication and triage to self-service resolution or specialist exception routing.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Entry &amp; Triage (SCR-01 to SCR-04):</a:t>
            </a: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Enforces secure pre-authentication (KAN-4, KAN-9) with 3-attempt OTP lockout (SCR-02), routing straightforward cases (38% target) to self-service while deflecting complex queries.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Self-Service &amp; Ineligibility Rules (SCR-03 to SCR-07):</a:t>
            </a: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Supports balance summaries, 30-day payment promises (KAN-20), and 3–12 month payment plans (KAN-6). Strict ineligibility criteria—such as balances outside £50–£5,000, sub-£15 monthly floors, active disputes, or write-off requests—automatically pause self-service and trigger exception routing.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Exception Handoff &amp; Support (SCR-09):</a:t>
            </a: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Ineligible or distressed cases instantly route to Screen 7 (bespoke-plan) with a unique case reference, queueing them for manual affordability review, priority telephony (0800 458 9120), debt advice directories, and Staff View context transfer (KAN-15) to prevent customer repetition.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Governance &amp; Security (SCR-08 &amp; KAN-14):</a:t>
            </a: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Confirms agreement registration with immutable 6-year FCA dual-store audit logging (KAN-8), 24-hour legacy database synchronization (KAN-12), and 13-minute session timeout protections with 48-hour contact suppression.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h4869c0d5440cee46_0_3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h4869c0d5440cee46_0_3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Address potential implementation risks and their corresponding safeguards.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For legacy sync delays or downtime, automated staging queues and immediate collection pause triggers prevent duplicate outreach.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For regulatory and data privacy risks, immutable dual-store logging ensures 6-year FCA compliance while pre-auth shields and 13-minute timeouts protect customer data.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For adoption risks, context-aware specialist handoff drawers ensure reps see full history without forcing customers to repeat details.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h4869c0d5440cee46_0_3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h4869c0d5440cee46_0_3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Summarize the core message: a 9-screen interactive prototype is fully specified and mapped to the Jira backlog.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Reiterate the single recommendation: approve Phase 1 to move forward with converting the existing prototype into a fully usable live solution.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Remind stakeholders of the financial and operational return: £2.40M annual value, 823% projected ROI, under 2-month payback, and full regulatory compliance.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6a9e771efbf48df8_7_0)">
  <p:cSld name="Generated (h6a9e771efbf48df8_7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-762000" y="-1333500"/>
            <a:ext cx="11430000" cy="7620000"/>
            <a:chOff x="-762000" y="-1333500"/>
            <a:chExt cx="11430000" cy="7620000"/>
          </a:xfrm>
        </p:grpSpPr>
        <p:sp>
          <p:nvSpPr>
            <p:cNvPr id="56" name="Google Shape;56;p14"/>
            <p:cNvSpPr/>
            <p:nvPr/>
          </p:nvSpPr>
          <p:spPr>
            <a:xfrm>
              <a:off x="6477000" y="-1333500"/>
              <a:ext cx="4191000" cy="4191000"/>
            </a:xfrm>
            <a:prstGeom prst="ellipse">
              <a:avLst/>
            </a:prstGeom>
            <a:solidFill>
              <a:srgbClr val="2563EB">
                <a:alpha val="3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-762000" y="2857500"/>
              <a:ext cx="3429000" cy="3429000"/>
            </a:xfrm>
            <a:prstGeom prst="ellipse">
              <a:avLst/>
            </a:prstGeom>
            <a:solidFill>
              <a:srgbClr val="0284C7">
                <a:alpha val="3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571500" y="495300"/>
              <a:ext cx="8001000" cy="381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14"/>
          <p:cNvSpPr txBox="1"/>
          <p:nvPr/>
        </p:nvSpPr>
        <p:spPr>
          <a:xfrm>
            <a:off x="571500" y="762000"/>
            <a:ext cx="8001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Strategic Roadmap &amp; Execution Proposal</a:t>
            </a:r>
            <a:endParaRPr b="1" sz="95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3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Smart Recovery Phase 1 Proposal</a:t>
            </a:r>
            <a:endParaRPr b="0" sz="38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Executive summary of deliverables, business impact, and risk controls</a:t>
            </a:r>
            <a:endParaRPr b="0" sz="135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60" name="Google Shape;60;p14"/>
          <p:cNvGrpSpPr/>
          <p:nvPr/>
        </p:nvGrpSpPr>
        <p:grpSpPr>
          <a:xfrm>
            <a:off x="571500" y="2619375"/>
            <a:ext cx="2514600" cy="1333500"/>
            <a:chOff x="0" y="0"/>
            <a:chExt cx="2514600" cy="1333500"/>
          </a:xfrm>
        </p:grpSpPr>
        <p:sp>
          <p:nvSpPr>
            <p:cNvPr id="61" name="Google Shape;61;p14"/>
            <p:cNvSpPr/>
            <p:nvPr/>
          </p:nvSpPr>
          <p:spPr>
            <a:xfrm>
              <a:off x="0" y="0"/>
              <a:ext cx="2514600" cy="13335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0" y="0"/>
              <a:ext cx="2514600" cy="477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0" y="0"/>
              <a:ext cx="25146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171450" spcFirstLastPara="1" rIns="17145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CORE DELIVERABLES</a:t>
              </a:r>
              <a:endParaRPr b="1" sz="7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Self-Service Portal</a:t>
              </a:r>
              <a:endParaRPr b="0" sz="1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Automated payment plans, promises &amp; built-in safeguards.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4" name="Google Shape;64;p14"/>
          <p:cNvGrpSpPr/>
          <p:nvPr/>
        </p:nvGrpSpPr>
        <p:grpSpPr>
          <a:xfrm>
            <a:off x="3314700" y="2619375"/>
            <a:ext cx="2514600" cy="1333500"/>
            <a:chOff x="0" y="0"/>
            <a:chExt cx="2514600" cy="1333500"/>
          </a:xfrm>
        </p:grpSpPr>
        <p:sp>
          <p:nvSpPr>
            <p:cNvPr id="65" name="Google Shape;65;p14"/>
            <p:cNvSpPr/>
            <p:nvPr/>
          </p:nvSpPr>
          <p:spPr>
            <a:xfrm>
              <a:off x="0" y="0"/>
              <a:ext cx="2514600" cy="1333500"/>
            </a:xfrm>
            <a:prstGeom prst="roundRect">
              <a:avLst>
                <a:gd fmla="val 7142" name="adj"/>
              </a:avLst>
            </a:prstGeom>
            <a:solidFill>
              <a:srgbClr val="EFF6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0" y="0"/>
              <a:ext cx="2514600" cy="477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0" y="0"/>
              <a:ext cx="25146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171450" spcFirstLastPara="1" rIns="17145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BUSINESS IMPACT</a:t>
              </a:r>
              <a:endParaRPr b="1" sz="7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369A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£2.40M Value </a:t>
              </a:r>
              <a:r>
                <a:rPr b="1" lang="en" sz="950">
                  <a:solidFill>
                    <a:srgbClr val="16A34A"/>
                  </a:solidFill>
                  <a:latin typeface="Inter"/>
                  <a:ea typeface="Inter"/>
                  <a:cs typeface="Inter"/>
                  <a:sym typeface="Inter"/>
                </a:rPr>
                <a:t>(823% ROI)</a:t>
              </a:r>
              <a:endParaRPr b="0" sz="1200">
                <a:solidFill>
                  <a:srgbClr val="0369A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Rapid 1.3-month payback &amp; 2,400+ hours freed.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" name="Google Shape;68;p14"/>
          <p:cNvGrpSpPr/>
          <p:nvPr/>
        </p:nvGrpSpPr>
        <p:grpSpPr>
          <a:xfrm>
            <a:off x="6057900" y="2619375"/>
            <a:ext cx="2514600" cy="1333500"/>
            <a:chOff x="0" y="0"/>
            <a:chExt cx="2514600" cy="1333500"/>
          </a:xfrm>
        </p:grpSpPr>
        <p:sp>
          <p:nvSpPr>
            <p:cNvPr id="69" name="Google Shape;69;p14"/>
            <p:cNvSpPr/>
            <p:nvPr/>
          </p:nvSpPr>
          <p:spPr>
            <a:xfrm>
              <a:off x="0" y="0"/>
              <a:ext cx="2514600" cy="13335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0" y="0"/>
              <a:ext cx="2514600" cy="477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 txBox="1"/>
            <p:nvPr/>
          </p:nvSpPr>
          <p:spPr>
            <a:xfrm>
              <a:off x="0" y="0"/>
              <a:ext cx="25146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171450" spcFirstLastPara="1" rIns="17145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0D9488"/>
                  </a:solidFill>
                  <a:latin typeface="Inter"/>
                  <a:ea typeface="Inter"/>
                  <a:cs typeface="Inter"/>
                  <a:sym typeface="Inter"/>
                </a:rPr>
                <a:t>EXECUTION CREDIBILITY</a:t>
              </a:r>
              <a:endParaRPr b="1" sz="75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Low Risk &amp; High Focus</a:t>
              </a:r>
              <a:endParaRPr b="0" sz="1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Targeted customer segment with zero core disruption.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2" name="Google Shape;72;p14"/>
          <p:cNvGrpSpPr/>
          <p:nvPr/>
        </p:nvGrpSpPr>
        <p:grpSpPr>
          <a:xfrm>
            <a:off x="571500" y="4238625"/>
            <a:ext cx="8001000" cy="438300"/>
            <a:chOff x="0" y="0"/>
            <a:chExt cx="8001000" cy="438300"/>
          </a:xfrm>
        </p:grpSpPr>
        <p:cxnSp>
          <p:nvCxnSpPr>
            <p:cNvPr id="73" name="Google Shape;73;p14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4" name="Google Shape;74;p14"/>
            <p:cNvSpPr txBox="1"/>
            <p:nvPr/>
          </p:nvSpPr>
          <p:spPr>
            <a:xfrm>
              <a:off x="0" y="15240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Prepared for: Operations &amp; Strategy Leadership October 2026</a:t>
              </a:r>
              <a:endParaRPr b="0" sz="95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381000" y="209550"/>
            <a:ext cx="8382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STRATEGIC RECOMMENDATION</a:t>
            </a:r>
            <a:endParaRPr b="1" sz="85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Smart Recovery Phase 1 Recommendation</a:t>
            </a:r>
            <a:endParaRPr b="0" sz="20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Core deliverables, key business returns, and strategic risk controls</a:t>
            </a:r>
            <a:endParaRPr b="0" sz="95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81" name="Google Shape;81;p15"/>
          <p:cNvGrpSpPr/>
          <p:nvPr/>
        </p:nvGrpSpPr>
        <p:grpSpPr>
          <a:xfrm>
            <a:off x="381000" y="971550"/>
            <a:ext cx="2667000" cy="3886200"/>
            <a:chOff x="0" y="0"/>
            <a:chExt cx="2667000" cy="3886200"/>
          </a:xfrm>
        </p:grpSpPr>
        <p:sp>
          <p:nvSpPr>
            <p:cNvPr id="82" name="Google Shape;82;p15"/>
            <p:cNvSpPr/>
            <p:nvPr/>
          </p:nvSpPr>
          <p:spPr>
            <a:xfrm>
              <a:off x="0" y="0"/>
              <a:ext cx="2667000" cy="38862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190500" y="0"/>
              <a:ext cx="419100" cy="381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0" y="0"/>
              <a:ext cx="2667000" cy="3886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600" lIns="209550" spcFirstLastPara="1" rIns="20955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CORE DELIVERABLES</a:t>
              </a:r>
              <a:endParaRPr b="1" i="0" sz="7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1300">
                  <a:solidFill>
                    <a:srgbClr val="1E3A8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What Phase 1 Includes</a:t>
              </a:r>
              <a:endParaRPr b="1" i="0" sz="7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i="0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Simple Self-Service Portal</a:t>
              </a:r>
              <a:endParaRPr b="1" i="0" sz="7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Clears balances, schedules promises, and sets up flexible plans (£50–£5k).</a:t>
              </a:r>
              <a:endParaRPr b="1" i="0" sz="7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i="0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Built-In Safeguards</a:t>
              </a:r>
              <a:endParaRPr b="1" i="0" sz="7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Pauses collections for vulnerable customers and transfers history seamlessly.</a:t>
              </a:r>
              <a:endParaRPr b="1" i="0" sz="7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i="0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Tightly Focused Scope</a:t>
              </a:r>
              <a:endParaRPr b="1" i="0" sz="7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Automates standard cases only—excluding high-risk IT or custom write-offs.</a:t>
              </a:r>
              <a:endParaRPr b="1" i="0" sz="7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5" name="Google Shape;85;p15"/>
          <p:cNvGrpSpPr/>
          <p:nvPr/>
        </p:nvGrpSpPr>
        <p:grpSpPr>
          <a:xfrm>
            <a:off x="3238500" y="971550"/>
            <a:ext cx="2667000" cy="3886200"/>
            <a:chOff x="0" y="0"/>
            <a:chExt cx="2667000" cy="3886200"/>
          </a:xfrm>
        </p:grpSpPr>
        <p:sp>
          <p:nvSpPr>
            <p:cNvPr id="86" name="Google Shape;86;p15"/>
            <p:cNvSpPr/>
            <p:nvPr/>
          </p:nvSpPr>
          <p:spPr>
            <a:xfrm>
              <a:off x="0" y="0"/>
              <a:ext cx="2667000" cy="3886200"/>
            </a:xfrm>
            <a:prstGeom prst="roundRect">
              <a:avLst>
                <a:gd fmla="val 4285" name="adj"/>
              </a:avLst>
            </a:prstGeom>
            <a:solidFill>
              <a:srgbClr val="F0F9FF"/>
            </a:solidFill>
            <a:ln cap="flat" cmpd="sng" w="14300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190500" y="0"/>
              <a:ext cx="419100" cy="381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0" y="0"/>
              <a:ext cx="2667000" cy="3886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600" lIns="209550" spcFirstLastPara="1" rIns="20955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BUSINESS IMPACT</a:t>
              </a:r>
              <a:endParaRPr b="1" i="0" sz="7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1300">
                  <a:solidFill>
                    <a:srgbClr val="0369A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Why Approve Now</a:t>
              </a:r>
              <a:endParaRPr b="1" i="0" sz="7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i="0" lang="en" sz="2000">
                  <a:solidFill>
                    <a:srgbClr val="0369A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£2.40M </a:t>
              </a:r>
              <a:r>
                <a:rPr b="1" i="0" lang="en" sz="1100">
                  <a:solidFill>
                    <a:srgbClr val="16A34A"/>
                  </a:solidFill>
                  <a:latin typeface="Inter"/>
                  <a:ea typeface="Inter"/>
                  <a:cs typeface="Inter"/>
                  <a:sym typeface="Inter"/>
                </a:rPr>
                <a:t>(823% ROI)</a:t>
              </a:r>
              <a:endParaRPr b="1" i="0" sz="7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0" i="0" lang="en" sz="8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Net annual value on £260k investment</a:t>
              </a:r>
              <a:endParaRPr b="1" i="0" sz="7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i="0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1.3 Months Payback</a:t>
              </a:r>
              <a:endParaRPr b="1" i="0" sz="7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Rapid capital recovery with exceptional financial returns.</a:t>
              </a:r>
              <a:endParaRPr b="1" i="0" sz="7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i="0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2,400+ Staff Hours Saved</a:t>
              </a:r>
              <a:endParaRPr b="1" i="0" sz="7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Frontline capacity relief via self-service balance checks.</a:t>
              </a:r>
              <a:endParaRPr b="1" i="0" sz="7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i="0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FCA Consumer Duty</a:t>
              </a:r>
              <a:endParaRPr b="1" i="0" sz="7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Immediate regulatory compliance with transparent pricing.</a:t>
              </a:r>
              <a:endParaRPr b="1" i="0" sz="7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9" name="Google Shape;89;p15"/>
          <p:cNvGrpSpPr/>
          <p:nvPr/>
        </p:nvGrpSpPr>
        <p:grpSpPr>
          <a:xfrm>
            <a:off x="6096000" y="971550"/>
            <a:ext cx="2667000" cy="3886200"/>
            <a:chOff x="0" y="0"/>
            <a:chExt cx="2667000" cy="3886200"/>
          </a:xfrm>
        </p:grpSpPr>
        <p:sp>
          <p:nvSpPr>
            <p:cNvPr id="90" name="Google Shape;90;p15"/>
            <p:cNvSpPr/>
            <p:nvPr/>
          </p:nvSpPr>
          <p:spPr>
            <a:xfrm>
              <a:off x="0" y="0"/>
              <a:ext cx="2667000" cy="38862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190500" y="0"/>
              <a:ext cx="419100" cy="381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0" y="0"/>
              <a:ext cx="2667000" cy="3886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600" lIns="209550" spcFirstLastPara="1" rIns="20955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50">
                  <a:solidFill>
                    <a:srgbClr val="0D9488"/>
                  </a:solidFill>
                  <a:latin typeface="Inter"/>
                  <a:ea typeface="Inter"/>
                  <a:cs typeface="Inter"/>
                  <a:sym typeface="Inter"/>
                </a:rPr>
                <a:t>EXECUTION CREDIBILITY</a:t>
              </a:r>
              <a:endParaRPr b="1" i="0" sz="75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1300">
                  <a:solidFill>
                    <a:srgbClr val="0F766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Strategic Fit &amp; Focus</a:t>
              </a:r>
              <a:endParaRPr b="1" i="0" sz="75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i="0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Targeted Focus (38% Target)</a:t>
              </a:r>
              <a:endParaRPr b="1" i="0" sz="75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Focuses on customers with simple, predictable payment needs.</a:t>
              </a:r>
              <a:endParaRPr b="1" i="0" sz="75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i="0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Low Integration Risk</a:t>
              </a:r>
              <a:endParaRPr b="1" i="0" sz="75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Connects to existing systems without costly core banking overhauls.</a:t>
              </a:r>
              <a:endParaRPr b="1" i="0" sz="75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i="0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Smart Separation of Duties</a:t>
              </a:r>
              <a:endParaRPr b="1" i="0" sz="75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Automates routine tasks while senior staff retain hardship decisions.</a:t>
              </a:r>
              <a:endParaRPr b="1" i="0" sz="75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381000" y="238125"/>
            <a:ext cx="83820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Why Resolving Core Backlog Items Matters Now</a:t>
            </a:r>
            <a:endParaRPr b="0" sz="20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Addressing immediate operational friction, compliance risks, and customer experience gaps</a:t>
            </a:r>
            <a:endParaRPr b="0" sz="105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99" name="Google Shape;99;p16"/>
          <p:cNvGrpSpPr/>
          <p:nvPr/>
        </p:nvGrpSpPr>
        <p:grpSpPr>
          <a:xfrm>
            <a:off x="381000" y="904875"/>
            <a:ext cx="2667000" cy="3952800"/>
            <a:chOff x="0" y="0"/>
            <a:chExt cx="2667000" cy="3952800"/>
          </a:xfrm>
        </p:grpSpPr>
        <p:sp>
          <p:nvSpPr>
            <p:cNvPr id="100" name="Google Shape;100;p16"/>
            <p:cNvSpPr/>
            <p:nvPr/>
          </p:nvSpPr>
          <p:spPr>
            <a:xfrm>
              <a:off x="0" y="0"/>
              <a:ext cx="2667000" cy="39528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0" y="0"/>
              <a:ext cx="26670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6"/>
            <p:cNvSpPr txBox="1"/>
            <p:nvPr/>
          </p:nvSpPr>
          <p:spPr>
            <a:xfrm>
              <a:off x="0" y="0"/>
              <a:ext cx="2667000" cy="389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09550" lIns="209550" spcFirstLastPara="1" rIns="209550" wrap="square" tIns="209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CUSTOMER JOURNEYS</a:t>
              </a:r>
              <a:endParaRPr b="1" i="0" sz="8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i="0" lang="en" sz="1300">
                  <a:solidFill>
                    <a:srgbClr val="1E3A8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Customer Retention &amp; Trust</a:t>
              </a:r>
              <a:endParaRPr b="1" i="0" sz="8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i="0" lang="en" sz="22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38%</a:t>
              </a:r>
              <a:endParaRPr b="1" i="0" sz="8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0" i="0" lang="en" sz="8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Simple Cases Needing Self-Service</a:t>
              </a:r>
              <a:endParaRPr b="1" i="0" sz="8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Eliminate Access Barriers</a:t>
              </a:r>
              <a:endParaRPr b="1" i="0" sz="8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Secure OTP login </a:t>
              </a:r>
              <a:r>
                <a:rPr b="1" i="0" lang="en" sz="7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(KAN-4)</a:t>
              </a: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prevents lockout frustration while maintaining strict verification standards.</a:t>
              </a:r>
              <a:endParaRPr b="1" i="0" sz="7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Provide Clear Options</a:t>
              </a:r>
              <a:endParaRPr b="1" i="0" sz="8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Transparent balances </a:t>
              </a:r>
              <a:r>
                <a:rPr b="1" i="0" lang="en" sz="7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(KAN-5)</a:t>
              </a: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and flexible payment plans </a:t>
              </a:r>
              <a:r>
                <a:rPr b="1" i="0" lang="en" sz="7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(KAN-6)</a:t>
              </a: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prevent immediate customer drop-off.</a:t>
              </a:r>
              <a:endParaRPr b="1" i="0" sz="7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Reduce Broken Commitments</a:t>
              </a:r>
              <a:endParaRPr b="1" i="0" sz="8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Digital Promise-to-Pay </a:t>
              </a:r>
              <a:r>
                <a:rPr b="1" i="0" lang="en" sz="7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(KAN-20)</a:t>
              </a: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with 48h reminders ensures predictable cash flow recovery.</a:t>
              </a:r>
              <a:endParaRPr b="1" i="0" sz="7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3" name="Google Shape;103;p16"/>
          <p:cNvGrpSpPr/>
          <p:nvPr/>
        </p:nvGrpSpPr>
        <p:grpSpPr>
          <a:xfrm>
            <a:off x="3238500" y="904875"/>
            <a:ext cx="2667000" cy="3952800"/>
            <a:chOff x="0" y="0"/>
            <a:chExt cx="2667000" cy="3952800"/>
          </a:xfrm>
        </p:grpSpPr>
        <p:sp>
          <p:nvSpPr>
            <p:cNvPr id="104" name="Google Shape;104;p16"/>
            <p:cNvSpPr/>
            <p:nvPr/>
          </p:nvSpPr>
          <p:spPr>
            <a:xfrm>
              <a:off x="0" y="0"/>
              <a:ext cx="2667000" cy="3952800"/>
            </a:xfrm>
            <a:prstGeom prst="roundRect">
              <a:avLst>
                <a:gd fmla="val 4285" name="adj"/>
              </a:avLst>
            </a:prstGeom>
            <a:solidFill>
              <a:srgbClr val="F0F9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0" y="0"/>
              <a:ext cx="26670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6"/>
            <p:cNvSpPr txBox="1"/>
            <p:nvPr/>
          </p:nvSpPr>
          <p:spPr>
            <a:xfrm>
              <a:off x="0" y="0"/>
              <a:ext cx="2667000" cy="389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09550" lIns="209550" spcFirstLastPara="1" rIns="209550" wrap="square" tIns="209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TRIAGE &amp; SAFEGUARDS</a:t>
              </a:r>
              <a:endParaRPr b="1" i="0" sz="8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i="0" lang="en" sz="1300">
                  <a:solidFill>
                    <a:srgbClr val="0369A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Risk &amp; Capacity Protection</a:t>
              </a:r>
              <a:endParaRPr b="1" i="0" sz="8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i="0" lang="en" sz="22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2,400+ hrs</a:t>
              </a:r>
              <a:endParaRPr b="1" i="0" sz="8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0" i="0" lang="en" sz="8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Annual Frontline Capacity Relief</a:t>
              </a:r>
              <a:endParaRPr b="1" i="0" sz="8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Automate Case Routing</a:t>
              </a:r>
              <a:endParaRPr b="1" i="0" sz="8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Smart triage </a:t>
              </a:r>
              <a:r>
                <a:rPr b="1" i="0" lang="en" sz="7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(KAN-7)</a:t>
              </a: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directs complex issues to specialists, cutting agent handle times dramatically.</a:t>
              </a:r>
              <a:endParaRPr b="1" i="0" sz="7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Immediate Hardship Freeze</a:t>
              </a:r>
              <a:endParaRPr b="1" i="0" sz="8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Automated 30-day "Breathing Space" intake </a:t>
              </a:r>
              <a:r>
                <a:rPr b="1" i="0" lang="en" sz="7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(KAN-11)</a:t>
              </a: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prevents regulatory exposure and customer harm.</a:t>
              </a:r>
              <a:endParaRPr b="1" i="0" sz="7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Prevent Repetition</a:t>
              </a:r>
              <a:endParaRPr b="1" i="0" sz="8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Specialist handoff summaries </a:t>
              </a:r>
              <a:r>
                <a:rPr b="1" i="0" lang="en" sz="7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(KAN-15)</a:t>
              </a: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stop customers from having to repeat sensitive details.</a:t>
              </a:r>
              <a:endParaRPr b="1" i="0" sz="7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7" name="Google Shape;107;p16"/>
          <p:cNvGrpSpPr/>
          <p:nvPr/>
        </p:nvGrpSpPr>
        <p:grpSpPr>
          <a:xfrm>
            <a:off x="6096000" y="904875"/>
            <a:ext cx="2667000" cy="3952800"/>
            <a:chOff x="0" y="0"/>
            <a:chExt cx="2667000" cy="3952800"/>
          </a:xfrm>
        </p:grpSpPr>
        <p:sp>
          <p:nvSpPr>
            <p:cNvPr id="108" name="Google Shape;108;p16"/>
            <p:cNvSpPr/>
            <p:nvPr/>
          </p:nvSpPr>
          <p:spPr>
            <a:xfrm>
              <a:off x="0" y="0"/>
              <a:ext cx="2667000" cy="39528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0" y="0"/>
              <a:ext cx="26670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0" y="0"/>
              <a:ext cx="2667000" cy="389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09550" lIns="209550" spcFirstLastPara="1" rIns="209550" wrap="square" tIns="209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>
                  <a:solidFill>
                    <a:srgbClr val="0D9488"/>
                  </a:solidFill>
                  <a:latin typeface="Inter"/>
                  <a:ea typeface="Inter"/>
                  <a:cs typeface="Inter"/>
                  <a:sym typeface="Inter"/>
                </a:rPr>
                <a:t>INTEGRATION &amp; GOVERNANCE</a:t>
              </a:r>
              <a:endParaRPr b="1" i="0" sz="80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i="0" lang="en" sz="1300">
                  <a:solidFill>
                    <a:srgbClr val="0F766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Regulatory &amp; Data Integrity</a:t>
              </a:r>
              <a:endParaRPr b="1" i="0" sz="80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i="0" lang="en" sz="2200">
                  <a:solidFill>
                    <a:srgbClr val="0D948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6-Year</a:t>
              </a:r>
              <a:endParaRPr b="1" i="0" sz="80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0" i="0" lang="en" sz="8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Mandatory Statutory Audit Requirement</a:t>
              </a:r>
              <a:endParaRPr b="1" i="0" sz="80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Audit Log Compliance</a:t>
              </a:r>
              <a:endParaRPr b="1" i="0" sz="80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Dual-store tamper-evident logging </a:t>
              </a:r>
              <a:r>
                <a:rPr b="1" i="0" lang="en" sz="750">
                  <a:solidFill>
                    <a:srgbClr val="0D9488"/>
                  </a:solidFill>
                  <a:latin typeface="Inter"/>
                  <a:ea typeface="Inter"/>
                  <a:cs typeface="Inter"/>
                  <a:sym typeface="Inter"/>
                </a:rPr>
                <a:t>(KAN-8)</a:t>
              </a: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fulfills critical legal and regulatory mandates immediately.</a:t>
              </a:r>
              <a:endParaRPr b="1" i="0" sz="75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Halt Uncoordinated Outreach</a:t>
              </a:r>
              <a:endParaRPr b="1" i="0" sz="80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24h sync pipeline </a:t>
              </a:r>
              <a:r>
                <a:rPr b="1" i="0" lang="en" sz="750">
                  <a:solidFill>
                    <a:srgbClr val="0D9488"/>
                  </a:solidFill>
                  <a:latin typeface="Inter"/>
                  <a:ea typeface="Inter"/>
                  <a:cs typeface="Inter"/>
                  <a:sym typeface="Inter"/>
                </a:rPr>
                <a:t>(KAN-12)</a:t>
              </a: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and daily batch reconciliations </a:t>
              </a:r>
              <a:r>
                <a:rPr b="1" i="0" lang="en" sz="750">
                  <a:solidFill>
                    <a:srgbClr val="0D9488"/>
                  </a:solidFill>
                  <a:latin typeface="Inter"/>
                  <a:ea typeface="Inter"/>
                  <a:cs typeface="Inter"/>
                  <a:sym typeface="Inter"/>
                </a:rPr>
                <a:t>(KAN-10)</a:t>
              </a: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stop incorrect collection activity.</a:t>
              </a:r>
              <a:endParaRPr b="1" i="0" sz="75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Operational Visibility</a:t>
              </a:r>
              <a:endParaRPr b="1" i="0" sz="80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Volumetric management reporting </a:t>
              </a:r>
              <a:r>
                <a:rPr b="1" i="0" lang="en" sz="750">
                  <a:solidFill>
                    <a:srgbClr val="0D9488"/>
                  </a:solidFill>
                  <a:latin typeface="Inter"/>
                  <a:ea typeface="Inter"/>
                  <a:cs typeface="Inter"/>
                  <a:sym typeface="Inter"/>
                </a:rPr>
                <a:t>(KAN-13)</a:t>
              </a: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enables active tracking of conversion metrics.</a:t>
              </a:r>
              <a:endParaRPr b="1" i="0" sz="75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/>
        </p:nvSpPr>
        <p:spPr>
          <a:xfrm>
            <a:off x="381000" y="238125"/>
            <a:ext cx="83820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5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Current State Operational Pain Points &amp; Discovery Evidence</a:t>
            </a:r>
            <a:endParaRPr b="0" i="0" sz="185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7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Walk through stakeholder evidence to justify urgent change</a:t>
            </a:r>
            <a:endParaRPr b="0" i="0" sz="97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16" name="Google Shape;116;p17"/>
          <p:cNvGrpSpPr/>
          <p:nvPr/>
        </p:nvGrpSpPr>
        <p:grpSpPr>
          <a:xfrm>
            <a:off x="381000" y="857250"/>
            <a:ext cx="2667000" cy="4048200"/>
            <a:chOff x="0" y="0"/>
            <a:chExt cx="2667000" cy="4048200"/>
          </a:xfrm>
        </p:grpSpPr>
        <p:sp>
          <p:nvSpPr>
            <p:cNvPr id="117" name="Google Shape;117;p17"/>
            <p:cNvSpPr/>
            <p:nvPr/>
          </p:nvSpPr>
          <p:spPr>
            <a:xfrm>
              <a:off x="0" y="0"/>
              <a:ext cx="2667000" cy="40482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0" y="0"/>
              <a:ext cx="26670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7"/>
            <p:cNvSpPr txBox="1"/>
            <p:nvPr/>
          </p:nvSpPr>
          <p:spPr>
            <a:xfrm>
              <a:off x="0" y="0"/>
              <a:ext cx="2667000" cy="404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09550" lIns="190500" spcFirstLastPara="1" rIns="190500" wrap="square" tIns="209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5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STAKEHOLDER: CUSTOMER</a:t>
              </a:r>
              <a:endParaRPr b="0" i="0" sz="75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1300">
                  <a:solidFill>
                    <a:srgbClr val="1E3A8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"Slow, Repetitive, Confusing"</a:t>
              </a:r>
              <a:endParaRPr b="0" i="0" sz="75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i="0" lang="en" sz="22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50.37%</a:t>
              </a:r>
              <a:endParaRPr b="0" i="0" sz="75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8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Accounts enduring uncoordinated outreach</a:t>
              </a:r>
              <a:endParaRPr b="0" i="0" sz="75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Key Evidence:</a:t>
              </a:r>
              <a:endParaRPr b="0" i="0" sz="75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563EB"/>
                </a:buClr>
                <a:buSzPts val="750"/>
                <a:buFont typeface="Inter"/>
                <a:buChar char="●"/>
              </a:pPr>
              <a:r>
                <a:rPr b="1" i="0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Duplicate Status Checks:</a:t>
              </a: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28.9% of activities are duplicate cross-checks across 4 separate silos.</a:t>
              </a:r>
              <a:endParaRPr b="0" i="0" sz="75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563EB"/>
                </a:buClr>
                <a:buSzPts val="750"/>
                <a:buFont typeface="Inter"/>
                <a:buChar char="●"/>
              </a:pPr>
              <a:r>
                <a:rPr b="1" i="0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Uncoordinated Outreach:</a:t>
              </a: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50.37% of accounts endure up to 7 uncoordinated outreach attempts.</a:t>
              </a:r>
              <a:endParaRPr b="0" i="0" sz="75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563EB"/>
                </a:buClr>
                <a:buSzPts val="750"/>
                <a:buFont typeface="Inter"/>
                <a:buChar char="●"/>
              </a:pPr>
              <a:r>
                <a:rPr b="1" i="0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Handover Friction:</a:t>
              </a: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58 reps across 4 platforms lack synced history.</a:t>
              </a:r>
              <a:endParaRPr b="0" i="0" sz="75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20" name="Google Shape;120;p17"/>
          <p:cNvGrpSpPr/>
          <p:nvPr/>
        </p:nvGrpSpPr>
        <p:grpSpPr>
          <a:xfrm>
            <a:off x="3238500" y="857250"/>
            <a:ext cx="2667000" cy="4048200"/>
            <a:chOff x="0" y="0"/>
            <a:chExt cx="2667000" cy="4048200"/>
          </a:xfrm>
        </p:grpSpPr>
        <p:sp>
          <p:nvSpPr>
            <p:cNvPr id="121" name="Google Shape;121;p17"/>
            <p:cNvSpPr/>
            <p:nvPr/>
          </p:nvSpPr>
          <p:spPr>
            <a:xfrm>
              <a:off x="0" y="0"/>
              <a:ext cx="2667000" cy="4048200"/>
            </a:xfrm>
            <a:prstGeom prst="roundRect">
              <a:avLst>
                <a:gd fmla="val 4285" name="adj"/>
              </a:avLst>
            </a:prstGeom>
            <a:solidFill>
              <a:srgbClr val="F0F9FF"/>
            </a:solidFill>
            <a:ln cap="flat" cmpd="sng" w="14300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0" y="0"/>
              <a:ext cx="26670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 txBox="1"/>
            <p:nvPr/>
          </p:nvSpPr>
          <p:spPr>
            <a:xfrm>
              <a:off x="0" y="0"/>
              <a:ext cx="2667000" cy="404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09550" lIns="190500" spcFirstLastPara="1" rIns="190500" wrap="square" tIns="209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5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STAKEHOLDER: COLLECTIONS REPS</a:t>
              </a:r>
              <a:endParaRPr b="0" i="0" sz="75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1300">
                  <a:solidFill>
                    <a:srgbClr val="0369A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"Fragmented &amp; Exhausting"</a:t>
              </a:r>
              <a:endParaRPr b="0" i="0" sz="75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i="0" lang="en" sz="22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43.37%</a:t>
              </a:r>
              <a:endParaRPr b="0" i="0" sz="75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8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Agent effort spent on manual logging &amp; admin</a:t>
              </a:r>
              <a:endParaRPr b="0" i="0" sz="75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Key Evidence:</a:t>
              </a:r>
              <a:endParaRPr b="0" i="0" sz="75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284C7"/>
                </a:buClr>
                <a:buSzPts val="750"/>
                <a:buFont typeface="Inter"/>
                <a:buChar char="●"/>
              </a:pPr>
              <a:r>
                <a:rPr b="1" i="0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Spreadsheet Conflicts:</a:t>
              </a: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58 reps rely on concurrent offline spreadsheets.</a:t>
              </a:r>
              <a:endParaRPr b="0" i="0" sz="75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284C7"/>
                </a:buClr>
                <a:buSzPts val="750"/>
                <a:buFont typeface="Inter"/>
                <a:buChar char="●"/>
              </a:pPr>
              <a:r>
                <a:rPr b="1" i="0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Administrative Overhead:</a:t>
              </a: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Spending 43.37% of time on manual logging.</a:t>
              </a:r>
              <a:endParaRPr b="0" i="0" sz="75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284C7"/>
                </a:buClr>
                <a:buSzPts val="750"/>
                <a:buFont typeface="Inter"/>
                <a:buChar char="●"/>
              </a:pPr>
              <a:r>
                <a:rPr b="1" i="0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Escalation Bottleneck:</a:t>
              </a: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1,423 escalations drain 200+ senior hours.</a:t>
              </a:r>
              <a:endParaRPr b="0" i="0" sz="75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24" name="Google Shape;124;p17"/>
          <p:cNvGrpSpPr/>
          <p:nvPr/>
        </p:nvGrpSpPr>
        <p:grpSpPr>
          <a:xfrm>
            <a:off x="6096000" y="857250"/>
            <a:ext cx="2667000" cy="4048200"/>
            <a:chOff x="0" y="0"/>
            <a:chExt cx="2667000" cy="4048200"/>
          </a:xfrm>
        </p:grpSpPr>
        <p:sp>
          <p:nvSpPr>
            <p:cNvPr id="125" name="Google Shape;125;p17"/>
            <p:cNvSpPr/>
            <p:nvPr/>
          </p:nvSpPr>
          <p:spPr>
            <a:xfrm>
              <a:off x="0" y="0"/>
              <a:ext cx="2667000" cy="40482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0" y="0"/>
              <a:ext cx="26670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0" y="0"/>
              <a:ext cx="2667000" cy="404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09550" lIns="190500" spcFirstLastPara="1" rIns="190500" wrap="square" tIns="209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50">
                  <a:solidFill>
                    <a:srgbClr val="0D948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STAKEHOLDER: TEAM LEADERS</a:t>
              </a:r>
              <a:endParaRPr b="0" i="0" sz="750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1300">
                  <a:solidFill>
                    <a:srgbClr val="0F766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"Unclear and Unreliable"</a:t>
              </a:r>
              <a:endParaRPr b="0" i="0" sz="750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i="0" lang="en" sz="2200">
                  <a:solidFill>
                    <a:srgbClr val="0D948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£3.05M</a:t>
              </a:r>
              <a:endParaRPr b="0" i="0" sz="750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8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Sits in overdue balances lacking live visibility</a:t>
              </a:r>
              <a:endParaRPr b="0" i="0" sz="750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Key Evidence:</a:t>
              </a:r>
              <a:endParaRPr b="0" i="0" sz="750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D9488"/>
                </a:buClr>
                <a:buSzPts val="750"/>
                <a:buFont typeface="Inter"/>
                <a:buChar char="●"/>
              </a:pPr>
              <a:r>
                <a:rPr b="1" i="0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Reconciliation Burden:</a:t>
              </a: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1,458 reconciliation tasks consume over 218 staff hours.</a:t>
              </a:r>
              <a:endParaRPr b="0" i="0" sz="750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D9488"/>
                </a:buClr>
                <a:buSzPts val="750"/>
                <a:buFont typeface="Inter"/>
                <a:buChar char="●"/>
              </a:pPr>
              <a:r>
                <a:rPr b="1" i="0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Regulatory Exposure:</a:t>
              </a: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519 vulnerable accounts lack tailored handling.</a:t>
              </a:r>
              <a:endParaRPr b="0" i="0" sz="750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D9488"/>
                </a:buClr>
                <a:buSzPts val="750"/>
                <a:buFont typeface="Inter"/>
                <a:buChar char="●"/>
              </a:pPr>
              <a:r>
                <a:rPr b="1" i="0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Promise Tracking:</a:t>
              </a:r>
              <a:r>
                <a:rPr b="0" i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1,007 promise accounts split across status codes.</a:t>
              </a:r>
              <a:endParaRPr b="0" i="0" sz="750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/>
        </p:nvSpPr>
        <p:spPr>
          <a:xfrm>
            <a:off x="381000" y="2667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5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Strategic Initiative Prioritization &amp; Impact</a:t>
            </a:r>
            <a:endParaRPr b="0" sz="185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97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Core features, foundational enablers, and combined financial return</a:t>
            </a:r>
            <a:endParaRPr b="0" sz="97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33" name="Google Shape;133;p18"/>
          <p:cNvGrpSpPr/>
          <p:nvPr/>
        </p:nvGrpSpPr>
        <p:grpSpPr>
          <a:xfrm>
            <a:off x="381000" y="838200"/>
            <a:ext cx="2667000" cy="2667150"/>
            <a:chOff x="0" y="0"/>
            <a:chExt cx="2667000" cy="2667150"/>
          </a:xfrm>
        </p:grpSpPr>
        <p:sp>
          <p:nvSpPr>
            <p:cNvPr id="134" name="Google Shape;134;p18"/>
            <p:cNvSpPr/>
            <p:nvPr/>
          </p:nvSpPr>
          <p:spPr>
            <a:xfrm>
              <a:off x="0" y="0"/>
              <a:ext cx="2667000" cy="2667000"/>
            </a:xfrm>
            <a:prstGeom prst="roundRect">
              <a:avLst>
                <a:gd fmla="val 3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0" y="0"/>
              <a:ext cx="26670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8"/>
            <p:cNvSpPr txBox="1"/>
            <p:nvPr/>
          </p:nvSpPr>
          <p:spPr>
            <a:xfrm>
              <a:off x="0" y="57150"/>
              <a:ext cx="2667000" cy="26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PRIORITY 1</a:t>
              </a:r>
              <a:endParaRPr b="1" sz="7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E3A8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Eligible Payment Plan</a:t>
              </a:r>
              <a:endParaRPr b="0" sz="1300">
                <a:solidFill>
                  <a:srgbClr val="1E3A8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£1.46M</a:t>
              </a:r>
              <a:endParaRPr b="0" sz="24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Revenue Uplift</a:t>
              </a:r>
              <a:endParaRPr b="0" sz="8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£1.39M</a:t>
              </a:r>
              <a: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Net Benefit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8 mins</a:t>
              </a:r>
              <a: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saved per case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Primary revenue generator designed to scale self-service installment options for eligible accounts.</a:t>
              </a:r>
              <a:endParaRPr b="0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7" name="Google Shape;137;p18"/>
          <p:cNvGrpSpPr/>
          <p:nvPr/>
        </p:nvGrpSpPr>
        <p:grpSpPr>
          <a:xfrm>
            <a:off x="3238500" y="838200"/>
            <a:ext cx="2667000" cy="2667150"/>
            <a:chOff x="0" y="0"/>
            <a:chExt cx="2667000" cy="2667150"/>
          </a:xfrm>
        </p:grpSpPr>
        <p:sp>
          <p:nvSpPr>
            <p:cNvPr id="138" name="Google Shape;138;p18"/>
            <p:cNvSpPr/>
            <p:nvPr/>
          </p:nvSpPr>
          <p:spPr>
            <a:xfrm>
              <a:off x="0" y="0"/>
              <a:ext cx="2667000" cy="2667000"/>
            </a:xfrm>
            <a:prstGeom prst="roundRect">
              <a:avLst>
                <a:gd fmla="val 3571" name="adj"/>
              </a:avLst>
            </a:prstGeom>
            <a:solidFill>
              <a:srgbClr val="EFF6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8"/>
            <p:cNvSpPr/>
            <p:nvPr/>
          </p:nvSpPr>
          <p:spPr>
            <a:xfrm>
              <a:off x="0" y="0"/>
              <a:ext cx="26670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8"/>
            <p:cNvSpPr txBox="1"/>
            <p:nvPr/>
          </p:nvSpPr>
          <p:spPr>
            <a:xfrm>
              <a:off x="0" y="57150"/>
              <a:ext cx="2667000" cy="26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PRIORITY 2</a:t>
              </a:r>
              <a:endParaRPr b="1" sz="7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369A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Digital Promise to Pay</a:t>
              </a:r>
              <a:endParaRPr b="0" sz="1300">
                <a:solidFill>
                  <a:srgbClr val="0369A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£874,920</a:t>
              </a:r>
              <a:endParaRPr b="0" sz="24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Net Benefit</a:t>
              </a:r>
              <a:endParaRPr b="0" sz="8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11 mins</a:t>
              </a:r>
              <a: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saved per case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Streamlines commitment capture with automated scheduling and digital confirmation receipts.</a:t>
              </a:r>
              <a:endParaRPr b="0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1" name="Google Shape;141;p18"/>
          <p:cNvGrpSpPr/>
          <p:nvPr/>
        </p:nvGrpSpPr>
        <p:grpSpPr>
          <a:xfrm>
            <a:off x="6096000" y="838200"/>
            <a:ext cx="2667000" cy="2667150"/>
            <a:chOff x="0" y="0"/>
            <a:chExt cx="2667000" cy="2667150"/>
          </a:xfrm>
        </p:grpSpPr>
        <p:sp>
          <p:nvSpPr>
            <p:cNvPr id="142" name="Google Shape;142;p18"/>
            <p:cNvSpPr/>
            <p:nvPr/>
          </p:nvSpPr>
          <p:spPr>
            <a:xfrm>
              <a:off x="0" y="0"/>
              <a:ext cx="2667000" cy="2667000"/>
            </a:xfrm>
            <a:prstGeom prst="roundRect">
              <a:avLst>
                <a:gd fmla="val 3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0" y="0"/>
              <a:ext cx="26670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8"/>
            <p:cNvSpPr txBox="1"/>
            <p:nvPr/>
          </p:nvSpPr>
          <p:spPr>
            <a:xfrm>
              <a:off x="0" y="57150"/>
              <a:ext cx="2667000" cy="26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0D9488"/>
                  </a:solidFill>
                  <a:latin typeface="Inter"/>
                  <a:ea typeface="Inter"/>
                  <a:cs typeface="Inter"/>
                  <a:sym typeface="Inter"/>
                </a:rPr>
                <a:t>FOUNDATIONAL ENABLERS</a:t>
              </a:r>
              <a:endParaRPr b="1" sz="75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766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Self-Serve &amp; Routing</a:t>
              </a:r>
              <a:endParaRPr b="0" sz="1300">
                <a:solidFill>
                  <a:srgbClr val="0F766E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Self-Serve Balance View</a:t>
              </a:r>
              <a:endParaRPr/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D9488"/>
                  </a:solidFill>
                  <a:latin typeface="Inter"/>
                  <a:ea typeface="Inter"/>
                  <a:cs typeface="Inter"/>
                  <a:sym typeface="Inter"/>
                </a:rPr>
                <a:t>404 hours saved annually</a:t>
              </a:r>
              <a:endParaRPr/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Rules-Based Routing</a:t>
              </a:r>
              <a:endParaRPr/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D9488"/>
                  </a:solidFill>
                  <a:latin typeface="Inter"/>
                  <a:ea typeface="Inter"/>
                  <a:cs typeface="Inter"/>
                  <a:sym typeface="Inter"/>
                </a:rPr>
                <a:t>650 hours saved annually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Underpins core journeys to ensure strict regulatory compliance and reduce call volume.</a:t>
              </a:r>
              <a:endParaRPr b="0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5" name="Google Shape;145;p18"/>
          <p:cNvGrpSpPr/>
          <p:nvPr/>
        </p:nvGrpSpPr>
        <p:grpSpPr>
          <a:xfrm>
            <a:off x="381000" y="3667125"/>
            <a:ext cx="8382000" cy="1095300"/>
            <a:chOff x="0" y="0"/>
            <a:chExt cx="8382000" cy="1095300"/>
          </a:xfrm>
        </p:grpSpPr>
        <p:sp>
          <p:nvSpPr>
            <p:cNvPr id="146" name="Google Shape;146;p18"/>
            <p:cNvSpPr/>
            <p:nvPr/>
          </p:nvSpPr>
          <p:spPr>
            <a:xfrm>
              <a:off x="0" y="0"/>
              <a:ext cx="8382000" cy="1095300"/>
            </a:xfrm>
            <a:prstGeom prst="roundRect">
              <a:avLst>
                <a:gd fmla="val 8695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8"/>
            <p:cNvSpPr txBox="1"/>
            <p:nvPr/>
          </p:nvSpPr>
          <p:spPr>
            <a:xfrm>
              <a:off x="0" y="0"/>
              <a:ext cx="83820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228600" spcFirstLastPara="1" rIns="2286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TOTAL COMBINED IMPACT ACROSS ALL INITIATIVES</a:t>
              </a:r>
              <a:endParaRPr b="1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£2.37M </a:t>
              </a:r>
              <a:r>
                <a:rPr b="0" lang="en" sz="9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Annual Revenue Uplift </a:t>
              </a:r>
              <a:r>
                <a:rPr b="0" lang="en" sz="1800">
                  <a:solidFill>
                    <a:srgbClr val="4ADE80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2,400+ hrs </a:t>
              </a:r>
              <a:r>
                <a:rPr b="0" lang="en" sz="9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Frontline Hours Freed </a:t>
              </a:r>
              <a:r>
                <a:rPr b="0" lang="en" sz="1800">
                  <a:solidFill>
                    <a:srgbClr val="FACC15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&lt; 2 Months </a:t>
              </a:r>
              <a:r>
                <a:rPr b="0" lang="en" sz="9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Capital Payback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/>
        </p:nvSpPr>
        <p:spPr>
          <a:xfrm>
            <a:off x="381000" y="171450"/>
            <a:ext cx="8382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5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Phase 1 Scope &amp; Delivery Boundaries</a:t>
            </a:r>
            <a:endParaRPr b="0" sz="185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879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Core customer journeys, technical enablers, scope limits, and execution credibility</a:t>
            </a:r>
            <a:endParaRPr b="0" sz="879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53" name="Google Shape;153;p19"/>
          <p:cNvGrpSpPr/>
          <p:nvPr/>
        </p:nvGrpSpPr>
        <p:grpSpPr>
          <a:xfrm>
            <a:off x="381000" y="762000"/>
            <a:ext cx="2667000" cy="2552700"/>
            <a:chOff x="0" y="0"/>
            <a:chExt cx="2667000" cy="2552700"/>
          </a:xfrm>
        </p:grpSpPr>
        <p:sp>
          <p:nvSpPr>
            <p:cNvPr id="154" name="Google Shape;154;p19"/>
            <p:cNvSpPr/>
            <p:nvPr/>
          </p:nvSpPr>
          <p:spPr>
            <a:xfrm>
              <a:off x="0" y="0"/>
              <a:ext cx="2667000" cy="2552700"/>
            </a:xfrm>
            <a:prstGeom prst="roundRect">
              <a:avLst>
                <a:gd fmla="val 373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9"/>
            <p:cNvSpPr/>
            <p:nvPr/>
          </p:nvSpPr>
          <p:spPr>
            <a:xfrm>
              <a:off x="0" y="0"/>
              <a:ext cx="2667000" cy="954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26"/>
                    <a:pt x="1919" y="0"/>
                    <a:pt x="4286" y="0"/>
                  </a:cubicBezTo>
                  <a:lnTo>
                    <a:pt x="115714" y="0"/>
                  </a:lnTo>
                  <a:cubicBezTo>
                    <a:pt x="116851" y="-2"/>
                    <a:pt x="117941" y="12640"/>
                    <a:pt x="118745" y="35144"/>
                  </a:cubicBezTo>
                  <a:cubicBezTo>
                    <a:pt x="119548" y="57649"/>
                    <a:pt x="120000" y="88173"/>
                    <a:pt x="120000" y="120000"/>
                  </a:cubicBezTo>
                  <a:lnTo>
                    <a:pt x="120000" y="72000"/>
                  </a:lnTo>
                  <a:lnTo>
                    <a:pt x="0" y="72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9"/>
            <p:cNvSpPr txBox="1"/>
            <p:nvPr/>
          </p:nvSpPr>
          <p:spPr>
            <a:xfrm>
              <a:off x="0" y="0"/>
              <a:ext cx="2667000" cy="255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33350" lIns="152400" spcFirstLastPara="1" rIns="152400" wrap="square" tIns="133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 SCOPE: CORE JOURNEYS</a:t>
              </a:r>
              <a:endParaRPr b="0" sz="75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1E3A8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Customer Deliverables</a:t>
              </a:r>
              <a:endParaRPr b="0" sz="1150">
                <a:solidFill>
                  <a:srgbClr val="1E3A8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563EB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Identity &amp; Verification:</a:t>
              </a:r>
              <a:r>
                <a:rPr b="0" lang="en" sz="75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</a:t>
              </a:r>
              <a:r>
                <a:rPr b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OTP login with lockout safeguard</a:t>
              </a:r>
              <a:endParaRPr b="0" sz="75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350"/>
                </a:spcBef>
                <a:spcAft>
                  <a:spcPts val="0"/>
                </a:spcAft>
                <a:buClr>
                  <a:srgbClr val="2563EB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Account Summary:</a:t>
              </a:r>
              <a:r>
                <a:rPr b="0" lang="en" sz="75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</a:t>
              </a:r>
              <a:r>
                <a:rPr b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Dashboard with balances &amp; self-service</a:t>
              </a:r>
              <a:endParaRPr b="0" sz="75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350"/>
                </a:spcBef>
                <a:spcAft>
                  <a:spcPts val="0"/>
                </a:spcAft>
                <a:buClr>
                  <a:srgbClr val="2563EB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Promise-to-Pay:</a:t>
              </a:r>
              <a:r>
                <a:rPr b="0" lang="en" sz="75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</a:t>
              </a:r>
              <a:r>
                <a:rPr b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Calendar selector with instant receipt</a:t>
              </a:r>
              <a:endParaRPr b="0" sz="75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350"/>
                </a:spcBef>
                <a:spcAft>
                  <a:spcPts val="0"/>
                </a:spcAft>
                <a:buClr>
                  <a:srgbClr val="2563EB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Payment Plans:</a:t>
              </a:r>
              <a:r>
                <a:rPr b="0" lang="en" sz="75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</a:t>
              </a:r>
              <a:r>
                <a:rPr b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3–12 mo flexible installment options</a:t>
              </a:r>
              <a:endParaRPr b="0" sz="75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350"/>
                </a:spcBef>
                <a:spcAft>
                  <a:spcPts val="0"/>
                </a:spcAft>
                <a:buClr>
                  <a:srgbClr val="2563EB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Contact Triage:</a:t>
              </a:r>
              <a:r>
                <a:rPr b="0" lang="en" sz="75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</a:t>
              </a:r>
              <a:r>
                <a:rPr b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Routing for simple vs. complex cases</a:t>
              </a:r>
              <a:endParaRPr b="0" sz="75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350"/>
                </a:spcBef>
                <a:spcAft>
                  <a:spcPts val="0"/>
                </a:spcAft>
                <a:buClr>
                  <a:srgbClr val="2563EB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Hardship Intake:</a:t>
              </a:r>
              <a:r>
                <a:rPr b="0" lang="en" sz="75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</a:t>
              </a:r>
              <a:r>
                <a:rPr b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Self-service 30-day collection freeze</a:t>
              </a:r>
              <a:endParaRPr b="0" sz="75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57" name="Google Shape;157;p19"/>
          <p:cNvGrpSpPr/>
          <p:nvPr/>
        </p:nvGrpSpPr>
        <p:grpSpPr>
          <a:xfrm>
            <a:off x="3238500" y="762000"/>
            <a:ext cx="2667000" cy="2552700"/>
            <a:chOff x="0" y="0"/>
            <a:chExt cx="2667000" cy="2552700"/>
          </a:xfrm>
        </p:grpSpPr>
        <p:sp>
          <p:nvSpPr>
            <p:cNvPr id="158" name="Google Shape;158;p19"/>
            <p:cNvSpPr/>
            <p:nvPr/>
          </p:nvSpPr>
          <p:spPr>
            <a:xfrm>
              <a:off x="0" y="0"/>
              <a:ext cx="2667000" cy="2552700"/>
            </a:xfrm>
            <a:prstGeom prst="roundRect">
              <a:avLst>
                <a:gd fmla="val 3731" name="adj"/>
              </a:avLst>
            </a:prstGeom>
            <a:solidFill>
              <a:srgbClr val="F0F9FF"/>
            </a:solidFill>
            <a:ln cap="flat" cmpd="sng" w="9525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9"/>
            <p:cNvSpPr/>
            <p:nvPr/>
          </p:nvSpPr>
          <p:spPr>
            <a:xfrm>
              <a:off x="0" y="0"/>
              <a:ext cx="2667000" cy="954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26"/>
                    <a:pt x="1919" y="0"/>
                    <a:pt x="4286" y="0"/>
                  </a:cubicBezTo>
                  <a:lnTo>
                    <a:pt x="115714" y="0"/>
                  </a:lnTo>
                  <a:cubicBezTo>
                    <a:pt x="116851" y="-2"/>
                    <a:pt x="117941" y="12640"/>
                    <a:pt x="118745" y="35144"/>
                  </a:cubicBezTo>
                  <a:cubicBezTo>
                    <a:pt x="119548" y="57649"/>
                    <a:pt x="120000" y="88173"/>
                    <a:pt x="120000" y="120000"/>
                  </a:cubicBezTo>
                  <a:lnTo>
                    <a:pt x="120000" y="72000"/>
                  </a:lnTo>
                  <a:lnTo>
                    <a:pt x="0" y="72000"/>
                  </a:lnTo>
                  <a:close/>
                </a:path>
              </a:pathLst>
            </a:cu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9"/>
            <p:cNvSpPr txBox="1"/>
            <p:nvPr/>
          </p:nvSpPr>
          <p:spPr>
            <a:xfrm>
              <a:off x="0" y="0"/>
              <a:ext cx="2667000" cy="255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33350" lIns="152400" spcFirstLastPara="1" rIns="152400" wrap="square" tIns="133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 SCOPE: TECHNICAL ENABLERS</a:t>
              </a:r>
              <a:endParaRPr b="0" sz="75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0369A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Enablers &amp; Compliance</a:t>
              </a:r>
              <a:endParaRPr b="0" sz="1150">
                <a:solidFill>
                  <a:srgbClr val="0369A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284C7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Session Timeout:</a:t>
              </a:r>
              <a:r>
                <a:rPr b="0" lang="en" sz="75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</a:t>
              </a:r>
              <a:r>
                <a:rPr b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13-min warning with countdown</a:t>
              </a:r>
              <a:endParaRPr b="0" sz="75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350"/>
                </a:spcBef>
                <a:spcAft>
                  <a:spcPts val="0"/>
                </a:spcAft>
                <a:buClr>
                  <a:srgbClr val="0284C7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Audit Logging:</a:t>
              </a:r>
              <a:r>
                <a:rPr b="0" lang="en" sz="75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</a:t>
              </a:r>
              <a:r>
                <a:rPr b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Tamper-evident 6-year retention log</a:t>
              </a:r>
              <a:endParaRPr b="0" sz="75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350"/>
                </a:spcBef>
                <a:spcAft>
                  <a:spcPts val="0"/>
                </a:spcAft>
                <a:buClr>
                  <a:srgbClr val="0284C7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Handoff Summary:</a:t>
              </a:r>
              <a:r>
                <a:rPr b="0" lang="en" sz="75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</a:t>
              </a:r>
              <a:r>
                <a:rPr b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Context screen for referred accounts</a:t>
              </a:r>
              <a:endParaRPr b="0" sz="75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350"/>
                </a:spcBef>
                <a:spcAft>
                  <a:spcPts val="0"/>
                </a:spcAft>
                <a:buClr>
                  <a:srgbClr val="0284C7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Reconciliation:</a:t>
              </a:r>
              <a:r>
                <a:rPr b="0" lang="en" sz="75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</a:t>
              </a:r>
              <a:r>
                <a:rPr b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Daily batch ledger comparison</a:t>
              </a:r>
              <a:endParaRPr b="0" sz="75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350"/>
                </a:spcBef>
                <a:spcAft>
                  <a:spcPts val="0"/>
                </a:spcAft>
                <a:buClr>
                  <a:srgbClr val="0284C7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Database Sync:</a:t>
              </a:r>
              <a:r>
                <a:rPr b="0" lang="en" sz="75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</a:t>
              </a:r>
              <a:r>
                <a:rPr b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24-hour pipeline to legacy systems</a:t>
              </a:r>
              <a:endParaRPr b="0" sz="75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350"/>
                </a:spcBef>
                <a:spcAft>
                  <a:spcPts val="0"/>
                </a:spcAft>
                <a:buClr>
                  <a:srgbClr val="0284C7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Reporting:</a:t>
              </a:r>
              <a:r>
                <a:rPr b="0" lang="en" sz="75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</a:t>
              </a:r>
              <a:r>
                <a:rPr b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Daily operational metrics &amp; ROI tracking</a:t>
              </a:r>
              <a:endParaRPr b="0" sz="75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61" name="Google Shape;161;p19"/>
          <p:cNvGrpSpPr/>
          <p:nvPr/>
        </p:nvGrpSpPr>
        <p:grpSpPr>
          <a:xfrm>
            <a:off x="6096000" y="762000"/>
            <a:ext cx="2667000" cy="2552700"/>
            <a:chOff x="0" y="0"/>
            <a:chExt cx="2667000" cy="2552700"/>
          </a:xfrm>
        </p:grpSpPr>
        <p:sp>
          <p:nvSpPr>
            <p:cNvPr id="162" name="Google Shape;162;p19"/>
            <p:cNvSpPr/>
            <p:nvPr/>
          </p:nvSpPr>
          <p:spPr>
            <a:xfrm>
              <a:off x="0" y="0"/>
              <a:ext cx="2667000" cy="2552700"/>
            </a:xfrm>
            <a:prstGeom prst="roundRect">
              <a:avLst>
                <a:gd fmla="val 373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9"/>
            <p:cNvSpPr/>
            <p:nvPr/>
          </p:nvSpPr>
          <p:spPr>
            <a:xfrm>
              <a:off x="0" y="0"/>
              <a:ext cx="2667000" cy="954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26"/>
                    <a:pt x="1919" y="0"/>
                    <a:pt x="4286" y="0"/>
                  </a:cubicBezTo>
                  <a:lnTo>
                    <a:pt x="115714" y="0"/>
                  </a:lnTo>
                  <a:cubicBezTo>
                    <a:pt x="116851" y="-2"/>
                    <a:pt x="117941" y="12640"/>
                    <a:pt x="118745" y="35144"/>
                  </a:cubicBezTo>
                  <a:cubicBezTo>
                    <a:pt x="119548" y="57649"/>
                    <a:pt x="120000" y="88173"/>
                    <a:pt x="120000" y="120000"/>
                  </a:cubicBezTo>
                  <a:lnTo>
                    <a:pt x="120000" y="72000"/>
                  </a:lnTo>
                  <a:lnTo>
                    <a:pt x="0" y="72000"/>
                  </a:lnTo>
                  <a:close/>
                </a:path>
              </a:pathLst>
            </a:cu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9"/>
            <p:cNvSpPr txBox="1"/>
            <p:nvPr/>
          </p:nvSpPr>
          <p:spPr>
            <a:xfrm>
              <a:off x="0" y="0"/>
              <a:ext cx="2667000" cy="255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33350" lIns="152400" spcFirstLastPara="1" rIns="152400" wrap="square" tIns="133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0D948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BOUNDARIES &amp; ASSUMPTIONS</a:t>
              </a:r>
              <a:endParaRPr b="0" sz="750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9F123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Out of Scope</a:t>
              </a:r>
              <a:endParaRPr b="0" sz="1050">
                <a:solidFill>
                  <a:srgbClr val="9F123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0D9488"/>
                </a:buClr>
                <a:buSzPts val="750"/>
                <a:buFont typeface="Inter"/>
                <a:buChar char="●"/>
              </a:pPr>
              <a:r>
                <a:rPr b="0" lang="en" sz="7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Detailed clickstream history sync</a:t>
              </a:r>
              <a:endParaRPr b="0" sz="750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250"/>
                </a:spcBef>
                <a:spcAft>
                  <a:spcPts val="0"/>
                </a:spcAft>
                <a:buClr>
                  <a:srgbClr val="0D9488"/>
                </a:buClr>
                <a:buSzPts val="750"/>
                <a:buFont typeface="Inter"/>
                <a:buChar char="●"/>
              </a:pPr>
              <a:r>
                <a:rPr b="0" lang="en" sz="7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Automated hardship negotiations</a:t>
              </a:r>
              <a:endParaRPr b="0" sz="750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250"/>
                </a:spcBef>
                <a:spcAft>
                  <a:spcPts val="0"/>
                </a:spcAft>
                <a:buClr>
                  <a:srgbClr val="0D9488"/>
                </a:buClr>
                <a:buSzPts val="750"/>
                <a:buFont typeface="Inter"/>
                <a:buChar char="●"/>
              </a:pPr>
              <a:r>
                <a:rPr b="0" lang="en" sz="7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Legal escalation &amp; dispute uploads</a:t>
              </a:r>
              <a:endParaRPr b="0" sz="750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250"/>
                </a:spcBef>
                <a:spcAft>
                  <a:spcPts val="0"/>
                </a:spcAft>
                <a:buClr>
                  <a:srgbClr val="0D9488"/>
                </a:buClr>
                <a:buSzPts val="750"/>
                <a:buFont typeface="Inter"/>
                <a:buChar char="●"/>
              </a:pPr>
              <a:r>
                <a:rPr b="0" lang="en" sz="7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Full legacy core-platform replacement</a:t>
              </a:r>
              <a:endParaRPr b="0" sz="750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0F766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Key Assumptions</a:t>
              </a:r>
              <a:endParaRPr b="0" sz="1050">
                <a:solidFill>
                  <a:srgbClr val="0F766E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0D9488"/>
                </a:buClr>
                <a:buSzPts val="750"/>
                <a:buFont typeface="Inter"/>
                <a:buChar char="●"/>
              </a:pPr>
              <a:r>
                <a:rPr b="0" lang="en" sz="7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Legacy APIs respond within 24h</a:t>
              </a:r>
              <a:endParaRPr b="0" sz="750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250"/>
                </a:spcBef>
                <a:spcAft>
                  <a:spcPts val="0"/>
                </a:spcAft>
                <a:buClr>
                  <a:srgbClr val="0D9488"/>
                </a:buClr>
                <a:buSzPts val="750"/>
                <a:buFont typeface="Inter"/>
                <a:buChar char="●"/>
              </a:pPr>
              <a:r>
                <a:rPr b="0" lang="en" sz="7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Approved Risk &amp; Compliance policies</a:t>
              </a:r>
              <a:endParaRPr b="0" sz="750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250"/>
                </a:spcBef>
                <a:spcAft>
                  <a:spcPts val="0"/>
                </a:spcAft>
                <a:buClr>
                  <a:srgbClr val="0D9488"/>
                </a:buClr>
                <a:buSzPts val="750"/>
                <a:buFont typeface="Inter"/>
                <a:buChar char="●"/>
              </a:pPr>
              <a:r>
                <a:rPr b="0" lang="en" sz="7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38% straightforward case ratio</a:t>
              </a:r>
              <a:endParaRPr b="0" sz="750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65" name="Google Shape;165;p19"/>
          <p:cNvGrpSpPr/>
          <p:nvPr/>
        </p:nvGrpSpPr>
        <p:grpSpPr>
          <a:xfrm>
            <a:off x="381000" y="3638550"/>
            <a:ext cx="8382000" cy="1476300"/>
            <a:chOff x="0" y="0"/>
            <a:chExt cx="8382000" cy="1476300"/>
          </a:xfrm>
        </p:grpSpPr>
        <p:sp>
          <p:nvSpPr>
            <p:cNvPr id="166" name="Google Shape;166;p19"/>
            <p:cNvSpPr/>
            <p:nvPr/>
          </p:nvSpPr>
          <p:spPr>
            <a:xfrm>
              <a:off x="0" y="0"/>
              <a:ext cx="8382000" cy="1476300"/>
            </a:xfrm>
            <a:prstGeom prst="roundRect">
              <a:avLst>
                <a:gd fmla="val 6451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9"/>
            <p:cNvSpPr txBox="1"/>
            <p:nvPr/>
          </p:nvSpPr>
          <p:spPr>
            <a:xfrm>
              <a:off x="0" y="0"/>
              <a:ext cx="8382000" cy="147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152400" lIns="228600" spcFirstLastPara="1" rIns="2286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94A3B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WHY THIS SCOPE IS CREDIBLE</a:t>
              </a:r>
              <a:endParaRPr b="0" sz="750">
                <a:solidFill>
                  <a:srgbClr val="94A3B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£2.40M</a:t>
              </a:r>
              <a:r>
                <a:rPr b="0" lang="en" sz="750">
                  <a:solidFill>
                    <a:srgbClr val="94A3B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</a:t>
              </a:r>
              <a:r>
                <a:rPr b="0" lang="en" sz="85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Annual Value</a:t>
              </a:r>
              <a:r>
                <a:rPr b="0" lang="en" sz="750">
                  <a:solidFill>
                    <a:srgbClr val="94A3B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    </a:t>
              </a:r>
              <a:r>
                <a:rPr b="0" lang="en" sz="1600">
                  <a:solidFill>
                    <a:srgbClr val="4ADE80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823%</a:t>
              </a:r>
              <a:r>
                <a:rPr b="0" lang="en" sz="750">
                  <a:solidFill>
                    <a:srgbClr val="94A3B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</a:t>
              </a:r>
              <a:r>
                <a:rPr b="0" lang="en" sz="85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ROI</a:t>
              </a:r>
              <a:r>
                <a:rPr b="0" lang="en" sz="750">
                  <a:solidFill>
                    <a:srgbClr val="94A3B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    </a:t>
              </a:r>
              <a:r>
                <a:rPr b="0" lang="en" sz="1600">
                  <a:solidFill>
                    <a:srgbClr val="FACC15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2,400+ hrs</a:t>
              </a:r>
              <a:r>
                <a:rPr b="0" lang="en" sz="750">
                  <a:solidFill>
                    <a:srgbClr val="94A3B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</a:t>
              </a:r>
              <a:r>
                <a:rPr b="0" lang="en" sz="85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Saved Staff Hours</a:t>
              </a:r>
              <a:r>
                <a:rPr b="0" lang="en" sz="750">
                  <a:solidFill>
                    <a:srgbClr val="94A3B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    </a:t>
              </a:r>
              <a:r>
                <a:rPr b="0" lang="en" sz="1600">
                  <a:solidFill>
                    <a:srgbClr val="A7F3D0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1.3 mo</a:t>
              </a:r>
              <a:r>
                <a:rPr b="0" lang="en" sz="750">
                  <a:solidFill>
                    <a:srgbClr val="94A3B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</a:t>
              </a:r>
              <a:r>
                <a:rPr b="0" lang="en" sz="85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Payback</a:t>
              </a:r>
              <a:endParaRPr b="0" sz="750">
                <a:solidFill>
                  <a:srgbClr val="94A3B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Focuses on top Week 1 priorities to deliver £2.40M annual value (£2.37M net revenue, £30.8k savings) against a £260k build cost while protecting vulnerable customers.</a:t>
              </a:r>
              <a:endParaRPr b="0" sz="750">
                <a:solidFill>
                  <a:srgbClr val="94A3B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/>
          <p:nvPr/>
        </p:nvSpPr>
        <p:spPr>
          <a:xfrm>
            <a:off x="381000" y="20955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5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Core Backlog Items &amp; User Stories</a:t>
            </a:r>
            <a:endParaRPr b="0" sz="185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Streamlined delivery breakdown across customer experience, triage safeguards, and backend integration</a:t>
            </a:r>
            <a:endParaRPr b="0" sz="95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73" name="Google Shape;173;p20"/>
          <p:cNvGrpSpPr/>
          <p:nvPr/>
        </p:nvGrpSpPr>
        <p:grpSpPr>
          <a:xfrm>
            <a:off x="381000" y="781050"/>
            <a:ext cx="2667000" cy="2667150"/>
            <a:chOff x="0" y="0"/>
            <a:chExt cx="2667000" cy="2667150"/>
          </a:xfrm>
        </p:grpSpPr>
        <p:sp>
          <p:nvSpPr>
            <p:cNvPr id="174" name="Google Shape;174;p20"/>
            <p:cNvSpPr/>
            <p:nvPr/>
          </p:nvSpPr>
          <p:spPr>
            <a:xfrm>
              <a:off x="0" y="0"/>
              <a:ext cx="2667000" cy="2667000"/>
            </a:xfrm>
            <a:prstGeom prst="roundRect">
              <a:avLst>
                <a:gd fmla="val 3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0" y="0"/>
              <a:ext cx="26670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0"/>
            <p:cNvSpPr txBox="1"/>
            <p:nvPr/>
          </p:nvSpPr>
          <p:spPr>
            <a:xfrm>
              <a:off x="0" y="57150"/>
              <a:ext cx="2667000" cy="26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CUSTOMER JOURNEYS</a:t>
              </a:r>
              <a:endParaRPr b="1" sz="7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E3A8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Portal &amp; Self-Service</a:t>
              </a:r>
              <a:endParaRPr b="0" sz="1200">
                <a:solidFill>
                  <a:srgbClr val="1E3A8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1000"/>
                </a:spcBef>
                <a:spcAft>
                  <a:spcPts val="0"/>
                </a:spcAft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KAN-4 Identity Verification:</a:t>
              </a:r>
              <a:r>
                <a:rPr b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Secure OTP login with 3-attempt lockout</a:t>
              </a:r>
              <a:endParaRPr b="0" sz="7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6225" lvl="0" marL="457200" rtl="0" algn="l">
                <a:spcBef>
                  <a:spcPts val="700"/>
                </a:spcBef>
                <a:spcAft>
                  <a:spcPts val="0"/>
                </a:spcAft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KAN-5 Account Dashboard:</a:t>
              </a:r>
              <a:r>
                <a:rPr b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Transparent balance view with 5 pathways</a:t>
              </a:r>
              <a:endParaRPr b="0" sz="7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6225" lvl="0" marL="457200" rtl="0" algn="l">
                <a:spcBef>
                  <a:spcPts val="700"/>
                </a:spcBef>
                <a:spcAft>
                  <a:spcPts val="0"/>
                </a:spcAft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KAN-6 Payment Plan:</a:t>
              </a:r>
              <a:r>
                <a:rPr b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3–12 mo installment schedules (£50–£5,000)</a:t>
              </a:r>
              <a:endParaRPr b="0" sz="7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6225" lvl="0" marL="457200" rtl="0" algn="l">
                <a:spcBef>
                  <a:spcPts val="700"/>
                </a:spcBef>
                <a:spcAft>
                  <a:spcPts val="0"/>
                </a:spcAft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KAN-20 Promise-to-Pay:</a:t>
              </a:r>
              <a:r>
                <a:rPr b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Dynamic calendar with 48h reminders</a:t>
              </a:r>
              <a:endParaRPr b="0" sz="7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7" name="Google Shape;177;p20"/>
          <p:cNvGrpSpPr/>
          <p:nvPr/>
        </p:nvGrpSpPr>
        <p:grpSpPr>
          <a:xfrm>
            <a:off x="3238500" y="781050"/>
            <a:ext cx="2667000" cy="2667150"/>
            <a:chOff x="0" y="0"/>
            <a:chExt cx="2667000" cy="2667150"/>
          </a:xfrm>
        </p:grpSpPr>
        <p:sp>
          <p:nvSpPr>
            <p:cNvPr id="178" name="Google Shape;178;p20"/>
            <p:cNvSpPr/>
            <p:nvPr/>
          </p:nvSpPr>
          <p:spPr>
            <a:xfrm>
              <a:off x="0" y="0"/>
              <a:ext cx="2667000" cy="2667000"/>
            </a:xfrm>
            <a:prstGeom prst="roundRect">
              <a:avLst>
                <a:gd fmla="val 3571" name="adj"/>
              </a:avLst>
            </a:prstGeom>
            <a:solidFill>
              <a:srgbClr val="F0F9FF"/>
            </a:solidFill>
            <a:ln cap="flat" cmpd="sng" w="14300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0" y="0"/>
              <a:ext cx="26670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0" y="57150"/>
              <a:ext cx="2667000" cy="26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TRIAGE &amp; SAFEGUARDS</a:t>
              </a:r>
              <a:endParaRPr b="1" sz="7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369A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Case Handling &amp; Security</a:t>
              </a:r>
              <a:endParaRPr b="0" sz="1200">
                <a:solidFill>
                  <a:srgbClr val="0369A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1000"/>
                </a:spcBef>
                <a:spcAft>
                  <a:spcPts val="0"/>
                </a:spcAft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369A1"/>
                  </a:solidFill>
                  <a:latin typeface="Inter"/>
                  <a:ea typeface="Inter"/>
                  <a:cs typeface="Inter"/>
                  <a:sym typeface="Inter"/>
                </a:rPr>
                <a:t>KAN-7 Triage &amp; Routing:</a:t>
              </a:r>
              <a:r>
                <a:rPr b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Rules engine routing complex cases to specialists</a:t>
              </a:r>
              <a:endParaRPr b="0" sz="7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6225" lvl="0" marL="457200" rtl="0" algn="l">
                <a:spcBef>
                  <a:spcPts val="700"/>
                </a:spcBef>
                <a:spcAft>
                  <a:spcPts val="0"/>
                </a:spcAft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369A1"/>
                  </a:solidFill>
                  <a:latin typeface="Inter"/>
                  <a:ea typeface="Inter"/>
                  <a:cs typeface="Inter"/>
                  <a:sym typeface="Inter"/>
                </a:rPr>
                <a:t>KAN-11 Vulnerability Intake:</a:t>
              </a:r>
              <a:r>
                <a:rPr b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Hardship intake triggering 30-day freeze</a:t>
              </a:r>
              <a:endParaRPr b="0" sz="7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6225" lvl="0" marL="457200" rtl="0" algn="l">
                <a:spcBef>
                  <a:spcPts val="700"/>
                </a:spcBef>
                <a:spcAft>
                  <a:spcPts val="0"/>
                </a:spcAft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369A1"/>
                  </a:solidFill>
                  <a:latin typeface="Inter"/>
                  <a:ea typeface="Inter"/>
                  <a:cs typeface="Inter"/>
                  <a:sym typeface="Inter"/>
                </a:rPr>
                <a:t>KAN-14 Session Timeout:</a:t>
              </a:r>
              <a:r>
                <a:rPr b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13-min timer with contact suppression</a:t>
              </a:r>
              <a:endParaRPr b="0" sz="7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6225" lvl="0" marL="457200" rtl="0" algn="l">
                <a:spcBef>
                  <a:spcPts val="700"/>
                </a:spcBef>
                <a:spcAft>
                  <a:spcPts val="0"/>
                </a:spcAft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369A1"/>
                  </a:solidFill>
                  <a:latin typeface="Inter"/>
                  <a:ea typeface="Inter"/>
                  <a:cs typeface="Inter"/>
                  <a:sym typeface="Inter"/>
                </a:rPr>
                <a:t>KAN-15 Specialist Review:</a:t>
              </a:r>
              <a:r>
                <a:rPr b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Summary screen preventing repetition</a:t>
              </a:r>
              <a:endParaRPr b="0" sz="7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1" name="Google Shape;181;p20"/>
          <p:cNvGrpSpPr/>
          <p:nvPr/>
        </p:nvGrpSpPr>
        <p:grpSpPr>
          <a:xfrm>
            <a:off x="6096000" y="781050"/>
            <a:ext cx="2667000" cy="2667150"/>
            <a:chOff x="0" y="0"/>
            <a:chExt cx="2667000" cy="2667150"/>
          </a:xfrm>
        </p:grpSpPr>
        <p:sp>
          <p:nvSpPr>
            <p:cNvPr id="182" name="Google Shape;182;p20"/>
            <p:cNvSpPr/>
            <p:nvPr/>
          </p:nvSpPr>
          <p:spPr>
            <a:xfrm>
              <a:off x="0" y="0"/>
              <a:ext cx="2667000" cy="2667000"/>
            </a:xfrm>
            <a:prstGeom prst="roundRect">
              <a:avLst>
                <a:gd fmla="val 3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0" y="0"/>
              <a:ext cx="26670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0" y="57150"/>
              <a:ext cx="2667000" cy="26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0D9488"/>
                  </a:solidFill>
                  <a:latin typeface="Inter"/>
                  <a:ea typeface="Inter"/>
                  <a:cs typeface="Inter"/>
                  <a:sym typeface="Inter"/>
                </a:rPr>
                <a:t>INTEGRATION &amp; GOVERNANCE</a:t>
              </a:r>
              <a:endParaRPr b="1" sz="75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766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Data Sync &amp; Reporting</a:t>
              </a:r>
              <a:endParaRPr b="0" sz="1200">
                <a:solidFill>
                  <a:srgbClr val="0F766E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1000"/>
                </a:spcBef>
                <a:spcAft>
                  <a:spcPts val="0"/>
                </a:spcAft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KAN-8 Audit Logging:</a:t>
              </a:r>
              <a:r>
                <a:rPr b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Read-only logging meeting 6-year retention</a:t>
              </a:r>
              <a:endParaRPr b="0" sz="7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6225" lvl="0" marL="457200" rtl="0" algn="l">
                <a:spcBef>
                  <a:spcPts val="700"/>
                </a:spcBef>
                <a:spcAft>
                  <a:spcPts val="0"/>
                </a:spcAft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KAN-10 Reconciliation:</a:t>
              </a:r>
              <a:r>
                <a:rPr b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Daily batch sync with collections ledgers</a:t>
              </a:r>
              <a:endParaRPr b="0" sz="7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6225" lvl="0" marL="457200" rtl="0" algn="l">
                <a:spcBef>
                  <a:spcPts val="700"/>
                </a:spcBef>
                <a:spcAft>
                  <a:spcPts val="0"/>
                </a:spcAft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KAN-12 24h Pipeline:</a:t>
              </a:r>
              <a:r>
                <a:rPr b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Fast DB sync to suppress duplicate outreach</a:t>
              </a:r>
              <a:endParaRPr b="0" sz="7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6225" lvl="0" marL="457200" rtl="0" algn="l">
                <a:spcBef>
                  <a:spcPts val="700"/>
                </a:spcBef>
                <a:spcAft>
                  <a:spcPts val="0"/>
                </a:spcAft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KAN-13 &amp; Epics:</a:t>
              </a:r>
              <a:r>
                <a:rPr b="0"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Daily metrics &amp; overall epic access control</a:t>
              </a:r>
              <a:endParaRPr b="0" sz="7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5" name="Google Shape;185;p20"/>
          <p:cNvGrpSpPr/>
          <p:nvPr/>
        </p:nvGrpSpPr>
        <p:grpSpPr>
          <a:xfrm>
            <a:off x="381000" y="3619500"/>
            <a:ext cx="8382000" cy="1190700"/>
            <a:chOff x="0" y="0"/>
            <a:chExt cx="8382000" cy="1190700"/>
          </a:xfrm>
        </p:grpSpPr>
        <p:sp>
          <p:nvSpPr>
            <p:cNvPr id="186" name="Google Shape;186;p20"/>
            <p:cNvSpPr/>
            <p:nvPr/>
          </p:nvSpPr>
          <p:spPr>
            <a:xfrm>
              <a:off x="0" y="0"/>
              <a:ext cx="8382000" cy="1190700"/>
            </a:xfrm>
            <a:prstGeom prst="roundRect">
              <a:avLst>
                <a:gd fmla="val 8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0"/>
            <p:cNvSpPr txBox="1"/>
            <p:nvPr/>
          </p:nvSpPr>
          <p:spPr>
            <a:xfrm>
              <a:off x="0" y="0"/>
              <a:ext cx="83820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450" lIns="228600" spcFirstLastPara="1" rIns="228600" wrap="square" tIns="17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BACKLOG DELIVERY HIGHLIGHTS</a:t>
              </a:r>
              <a:endParaRPr b="1" sz="7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12 Core Stories</a:t>
              </a:r>
              <a:r>
                <a:rPr b="1" lang="en" sz="7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 </a:t>
              </a:r>
              <a:r>
                <a:rPr b="0" lang="en" sz="85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Specified &amp; Mapped     </a:t>
              </a:r>
              <a:r>
                <a:rPr b="0" lang="en" sz="1500">
                  <a:solidFill>
                    <a:srgbClr val="4ADE80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3 Workstreams</a:t>
              </a:r>
              <a:r>
                <a:rPr b="1" lang="en" sz="7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 </a:t>
              </a:r>
              <a:r>
                <a:rPr b="0" lang="en" sz="85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Parallel Execution     </a:t>
              </a:r>
              <a:r>
                <a:rPr b="0" lang="en" sz="1500">
                  <a:solidFill>
                    <a:srgbClr val="FACC15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100% Compliance</a:t>
              </a:r>
              <a:r>
                <a:rPr b="1" lang="en" sz="7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 </a:t>
              </a:r>
              <a:r>
                <a:rPr b="0" lang="en" sz="85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FCA &amp; Audit Ready</a:t>
              </a:r>
              <a:endParaRPr b="1" sz="7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Structured Jira backlog prioritizes self-service conversion while ensuring robust vulnerability safeguards and automated legacy ledger reconciliation.</a:t>
              </a:r>
              <a:endParaRPr b="0" sz="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/>
          <p:nvPr/>
        </p:nvSpPr>
        <p:spPr>
          <a:xfrm>
            <a:off x="381000" y="238125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5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Smart-Recovery Prototype Specification &amp; Traceability</a:t>
            </a:r>
            <a:endParaRPr b="0" sz="185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97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Interactive screen flows, business rule validation, and Jira user story mapping</a:t>
            </a:r>
            <a:endParaRPr b="0" sz="97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93" name="Google Shape;193;p21"/>
          <p:cNvGrpSpPr/>
          <p:nvPr/>
        </p:nvGrpSpPr>
        <p:grpSpPr>
          <a:xfrm>
            <a:off x="381000" y="809625"/>
            <a:ext cx="2667000" cy="2714700"/>
            <a:chOff x="0" y="0"/>
            <a:chExt cx="2667000" cy="2714700"/>
          </a:xfrm>
        </p:grpSpPr>
        <p:sp>
          <p:nvSpPr>
            <p:cNvPr id="194" name="Google Shape;194;p21"/>
            <p:cNvSpPr/>
            <p:nvPr/>
          </p:nvSpPr>
          <p:spPr>
            <a:xfrm>
              <a:off x="0" y="0"/>
              <a:ext cx="2667000" cy="2714700"/>
            </a:xfrm>
            <a:prstGeom prst="roundRect">
              <a:avLst>
                <a:gd fmla="val 3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0" y="0"/>
              <a:ext cx="26670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1"/>
            <p:cNvSpPr txBox="1"/>
            <p:nvPr/>
          </p:nvSpPr>
          <p:spPr>
            <a:xfrm>
              <a:off x="0" y="0"/>
              <a:ext cx="2667000" cy="27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7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ENTRY &amp; TRIAGE</a:t>
              </a:r>
              <a:endParaRPr b="1" sz="7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E3A8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Access &amp; Intent</a:t>
              </a:r>
              <a:endParaRPr b="0" sz="1200">
                <a:solidFill>
                  <a:srgbClr val="1E3A8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1000"/>
                </a:spcBef>
                <a:spcAft>
                  <a:spcPts val="0"/>
                </a:spcAft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SCR-01 Landing Page:</a:t>
              </a:r>
              <a:r>
                <a:rPr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Pre-auth shield, 3-step overview, zero PII exposure </a:t>
              </a:r>
              <a:r>
                <a:rPr b="1" lang="en" sz="7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(KAN-4, KAN-9)</a:t>
              </a:r>
              <a:r>
                <a:rPr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7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6225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SCR-02 Identity Check:</a:t>
              </a:r>
              <a:r>
                <a:rPr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OTP verification &amp; 3-strike lockout safeguard </a:t>
              </a:r>
              <a:r>
                <a:rPr b="1" lang="en" sz="7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(KAN-4)</a:t>
              </a:r>
              <a:r>
                <a:rPr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7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6225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SCR-04 Triage Gating:</a:t>
              </a:r>
              <a:r>
                <a:rPr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5 resolution paths; routes straightforward cases to self-service </a:t>
              </a:r>
              <a:r>
                <a:rPr b="1" lang="en" sz="7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(KAN-5, KAN-7)</a:t>
              </a:r>
              <a:r>
                <a:rPr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7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7" name="Google Shape;197;p21"/>
          <p:cNvGrpSpPr/>
          <p:nvPr/>
        </p:nvGrpSpPr>
        <p:grpSpPr>
          <a:xfrm>
            <a:off x="3238500" y="809625"/>
            <a:ext cx="2667000" cy="2714700"/>
            <a:chOff x="0" y="0"/>
            <a:chExt cx="2667000" cy="2714700"/>
          </a:xfrm>
        </p:grpSpPr>
        <p:sp>
          <p:nvSpPr>
            <p:cNvPr id="198" name="Google Shape;198;p21"/>
            <p:cNvSpPr/>
            <p:nvPr/>
          </p:nvSpPr>
          <p:spPr>
            <a:xfrm>
              <a:off x="0" y="0"/>
              <a:ext cx="2667000" cy="2714700"/>
            </a:xfrm>
            <a:prstGeom prst="roundRect">
              <a:avLst>
                <a:gd fmla="val 3571" name="adj"/>
              </a:avLst>
            </a:prstGeom>
            <a:solidFill>
              <a:srgbClr val="F0F9FF"/>
            </a:solidFill>
            <a:ln cap="flat" cmpd="sng" w="14300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1"/>
            <p:cNvSpPr/>
            <p:nvPr/>
          </p:nvSpPr>
          <p:spPr>
            <a:xfrm>
              <a:off x="0" y="0"/>
              <a:ext cx="26670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1"/>
            <p:cNvSpPr txBox="1"/>
            <p:nvPr/>
          </p:nvSpPr>
          <p:spPr>
            <a:xfrm>
              <a:off x="0" y="0"/>
              <a:ext cx="2667000" cy="27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7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SELF-SERVICE RESOLUTION</a:t>
              </a:r>
              <a:endParaRPr b="1" sz="7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369A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Account &amp; Settlement</a:t>
              </a:r>
              <a:endParaRPr b="0" sz="1200">
                <a:solidFill>
                  <a:srgbClr val="0369A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1000"/>
                </a:spcBef>
                <a:spcAft>
                  <a:spcPts val="0"/>
                </a:spcAft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SCR-03 Summary Dashboard:</a:t>
              </a:r>
              <a:r>
                <a:rPr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Arrears breakdown &amp; hardship escape banner </a:t>
              </a:r>
              <a:r>
                <a:rPr b="1" lang="en" sz="7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(KAN-5, KAN-11)</a:t>
              </a:r>
              <a:r>
                <a:rPr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7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6225" lvl="0" marL="457200" rtl="0" algn="l">
                <a:spcBef>
                  <a:spcPts val="700"/>
                </a:spcBef>
                <a:spcAft>
                  <a:spcPts val="0"/>
                </a:spcAft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SCR-05 Promise-to-Pay:</a:t>
              </a:r>
              <a:r>
                <a:rPr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Dynamic calendar selector (1–30 days) </a:t>
              </a:r>
              <a:r>
                <a:rPr b="1" lang="en" sz="7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(KAN-20)</a:t>
              </a:r>
              <a:r>
                <a:rPr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7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6225" lvl="0" marL="457200" rtl="0" algn="l">
                <a:spcBef>
                  <a:spcPts val="700"/>
                </a:spcBef>
                <a:spcAft>
                  <a:spcPts val="0"/>
                </a:spcAft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SCR-06/07 Ineligibility Rules:</a:t>
              </a:r>
              <a:r>
                <a:rPr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Automated floor/threshold checks </a:t>
              </a:r>
              <a:r>
                <a:rPr b="1" lang="en" sz="7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(KAN-6)</a:t>
              </a:r>
              <a:r>
                <a:rPr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7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6225" lvl="0" marL="457200" rtl="0" algn="l">
                <a:spcBef>
                  <a:spcPts val="700"/>
                </a:spcBef>
                <a:spcAft>
                  <a:spcPts val="0"/>
                </a:spcAft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SCR-04b Card Settlement:</a:t>
              </a:r>
              <a:r>
                <a:rPr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Immediate full payment processing </a:t>
              </a:r>
              <a:r>
                <a:rPr b="1" lang="en" sz="7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(KAN-5, KAN-8)</a:t>
              </a:r>
              <a:r>
                <a:rPr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7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1" name="Google Shape;201;p21"/>
          <p:cNvGrpSpPr/>
          <p:nvPr/>
        </p:nvGrpSpPr>
        <p:grpSpPr>
          <a:xfrm>
            <a:off x="6096000" y="809625"/>
            <a:ext cx="2667000" cy="2714700"/>
            <a:chOff x="0" y="0"/>
            <a:chExt cx="2667000" cy="2714700"/>
          </a:xfrm>
        </p:grpSpPr>
        <p:sp>
          <p:nvSpPr>
            <p:cNvPr id="202" name="Google Shape;202;p21"/>
            <p:cNvSpPr/>
            <p:nvPr/>
          </p:nvSpPr>
          <p:spPr>
            <a:xfrm>
              <a:off x="0" y="0"/>
              <a:ext cx="2667000" cy="2714700"/>
            </a:xfrm>
            <a:prstGeom prst="roundRect">
              <a:avLst>
                <a:gd fmla="val 3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1"/>
            <p:cNvSpPr/>
            <p:nvPr/>
          </p:nvSpPr>
          <p:spPr>
            <a:xfrm>
              <a:off x="0" y="0"/>
              <a:ext cx="26670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1"/>
            <p:cNvSpPr txBox="1"/>
            <p:nvPr/>
          </p:nvSpPr>
          <p:spPr>
            <a:xfrm>
              <a:off x="0" y="0"/>
              <a:ext cx="2667000" cy="27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7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0D9488"/>
                  </a:solidFill>
                  <a:latin typeface="Inter"/>
                  <a:ea typeface="Inter"/>
                  <a:cs typeface="Inter"/>
                  <a:sym typeface="Inter"/>
                </a:rPr>
                <a:t>EXCEPTION HANDOFF &amp; SYNC</a:t>
              </a:r>
              <a:endParaRPr b="1" sz="70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766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Fulfillment &amp; Support</a:t>
              </a:r>
              <a:endParaRPr b="0" sz="1200">
                <a:solidFill>
                  <a:srgbClr val="0F766E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76225" lvl="0" marL="457200" rtl="0" algn="l">
                <a:spcBef>
                  <a:spcPts val="1000"/>
                </a:spcBef>
                <a:spcAft>
                  <a:spcPts val="0"/>
                </a:spcAft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SCR-08 Receipt &amp; Sync:</a:t>
              </a:r>
              <a:r>
                <a:rPr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Unique TX-ID, PDF receipt &amp; collection pause </a:t>
              </a:r>
              <a:r>
                <a:rPr b="1" lang="en" sz="750">
                  <a:solidFill>
                    <a:srgbClr val="0D9488"/>
                  </a:solidFill>
                  <a:latin typeface="Inter"/>
                  <a:ea typeface="Inter"/>
                  <a:cs typeface="Inter"/>
                  <a:sym typeface="Inter"/>
                </a:rPr>
                <a:t>(KAN-8, KAN-20)</a:t>
              </a:r>
              <a:r>
                <a:rPr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7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6225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SCR-09 Ineligible Handoff:</a:t>
              </a:r>
              <a:r>
                <a:rPr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Routes complex cases with context to specialist queues </a:t>
              </a:r>
              <a:r>
                <a:rPr b="1" lang="en" sz="750">
                  <a:solidFill>
                    <a:srgbClr val="0D9488"/>
                  </a:solidFill>
                  <a:latin typeface="Inter"/>
                  <a:ea typeface="Inter"/>
                  <a:cs typeface="Inter"/>
                  <a:sym typeface="Inter"/>
                </a:rPr>
                <a:t>(KAN-7, KAN-15)</a:t>
              </a:r>
              <a:r>
                <a:rPr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7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6225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b="1" lang="en" sz="7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Core Sync &amp; Audit:</a:t>
              </a:r>
              <a:r>
                <a:rPr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24h DB sync &amp; 6-year FCA statutory audit logging </a:t>
              </a:r>
              <a:r>
                <a:rPr b="1" lang="en" sz="750">
                  <a:solidFill>
                    <a:srgbClr val="0D9488"/>
                  </a:solidFill>
                  <a:latin typeface="Inter"/>
                  <a:ea typeface="Inter"/>
                  <a:cs typeface="Inter"/>
                  <a:sym typeface="Inter"/>
                </a:rPr>
                <a:t>(KAN-8, KAN-12)</a:t>
              </a:r>
              <a:r>
                <a:rPr lang="en" sz="7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7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5" name="Google Shape;205;p21"/>
          <p:cNvGrpSpPr/>
          <p:nvPr/>
        </p:nvGrpSpPr>
        <p:grpSpPr>
          <a:xfrm>
            <a:off x="381000" y="3667125"/>
            <a:ext cx="8382000" cy="1143000"/>
            <a:chOff x="0" y="0"/>
            <a:chExt cx="8382000" cy="1143000"/>
          </a:xfrm>
        </p:grpSpPr>
        <p:sp>
          <p:nvSpPr>
            <p:cNvPr id="206" name="Google Shape;206;p21"/>
            <p:cNvSpPr/>
            <p:nvPr/>
          </p:nvSpPr>
          <p:spPr>
            <a:xfrm>
              <a:off x="0" y="0"/>
              <a:ext cx="8382000" cy="1143000"/>
            </a:xfrm>
            <a:prstGeom prst="roundRect">
              <a:avLst>
                <a:gd fmla="val 8333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1"/>
            <p:cNvSpPr txBox="1"/>
            <p:nvPr/>
          </p:nvSpPr>
          <p:spPr>
            <a:xfrm>
              <a:off x="0" y="0"/>
              <a:ext cx="8382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152400" lIns="228600" spcFirstLastPara="1" rIns="2286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PROTOTYPE READINESS &amp; TRACEABILITY SUMMARY</a:t>
              </a:r>
              <a:endParaRPr b="1" sz="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9 Screens</a:t>
              </a:r>
              <a:r>
                <a:rPr lang="en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85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Fully Specified     </a:t>
              </a:r>
              <a:r>
                <a:rPr lang="en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500">
                  <a:solidFill>
                    <a:srgbClr val="4ADE80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100%</a:t>
              </a:r>
              <a:r>
                <a:rPr lang="en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85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Jira Backlog Mapped     </a:t>
              </a:r>
              <a:r>
                <a:rPr lang="en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500">
                  <a:solidFill>
                    <a:srgbClr val="FACC15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100%</a:t>
              </a:r>
              <a:r>
                <a:rPr lang="en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85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FCA &amp; GDPR Compliant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0" lang="en" sz="80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Smart-Recovery Self-Service Portal</a:t>
              </a:r>
              <a:r>
                <a:rPr lang="en" sz="8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prototype gates 38% of accounts for automated digital resolution while systematically enforcing eligibility rules and seamless specialist handoffs.</a:t>
              </a:r>
              <a:endParaRPr sz="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 txBox="1"/>
          <p:nvPr/>
        </p:nvSpPr>
        <p:spPr>
          <a:xfrm>
            <a:off x="381000" y="209550"/>
            <a:ext cx="8382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9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Change Risks &amp; Mitigation Strategy</a:t>
            </a:r>
            <a:endParaRPr b="0" sz="19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Key operational, regulatory, and adoption risks alongside proactive safeguard measures</a:t>
            </a:r>
            <a:endParaRPr b="0" sz="95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213" name="Google Shape;213;p22"/>
          <p:cNvGrpSpPr/>
          <p:nvPr/>
        </p:nvGrpSpPr>
        <p:grpSpPr>
          <a:xfrm>
            <a:off x="381000" y="762000"/>
            <a:ext cx="2667000" cy="2809950"/>
            <a:chOff x="0" y="0"/>
            <a:chExt cx="2667000" cy="2809950"/>
          </a:xfrm>
        </p:grpSpPr>
        <p:sp>
          <p:nvSpPr>
            <p:cNvPr id="214" name="Google Shape;214;p22"/>
            <p:cNvSpPr/>
            <p:nvPr/>
          </p:nvSpPr>
          <p:spPr>
            <a:xfrm>
              <a:off x="0" y="0"/>
              <a:ext cx="2667000" cy="2809800"/>
            </a:xfrm>
            <a:prstGeom prst="roundRect">
              <a:avLst>
                <a:gd fmla="val 3571" name="adj"/>
              </a:avLst>
            </a:prstGeom>
            <a:solidFill>
              <a:srgbClr val="FFFFFF"/>
            </a:solidFill>
            <a:ln cap="flat" cmpd="sng" w="9525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2"/>
            <p:cNvSpPr/>
            <p:nvPr/>
          </p:nvSpPr>
          <p:spPr>
            <a:xfrm>
              <a:off x="0" y="0"/>
              <a:ext cx="2667000" cy="57300"/>
            </a:xfrm>
            <a:prstGeom prst="roundRect">
              <a:avLst>
                <a:gd fmla="val 50000" name="adj"/>
              </a:avLst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2"/>
            <p:cNvSpPr txBox="1"/>
            <p:nvPr/>
          </p:nvSpPr>
          <p:spPr>
            <a:xfrm>
              <a:off x="0" y="57150"/>
              <a:ext cx="2667000" cy="275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OPERATIONAL &amp; INTEGRATION</a:t>
              </a:r>
              <a:endParaRPr b="1" sz="75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991B1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Legacy &amp; Sync Downtime</a:t>
              </a:r>
              <a:endParaRPr b="0" sz="1150">
                <a:solidFill>
                  <a:srgbClr val="991B1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Core Sync Delay</a:t>
              </a:r>
              <a:endParaRPr b="1" sz="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76200" marR="0" rtl="0" algn="l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24h sync failure causing duplicate outreach.</a:t>
              </a:r>
              <a:endParaRPr b="0" sz="7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76200" marR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72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Mitigation: </a:t>
              </a:r>
              <a:r>
                <a:rPr b="0" lang="en" sz="72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Automated staging queues &amp; instant pause triggers (KAN-8, KAN-12).</a:t>
              </a:r>
              <a:endParaRPr b="1" sz="72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Reconciliation Misalignment</a:t>
              </a:r>
              <a:endParaRPr b="1" sz="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76200" marR="0" rtl="0" algn="l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Discrepancies in legacy payment ledgers.</a:t>
              </a:r>
              <a:endParaRPr b="0" sz="7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76200" marR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72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Mitigation: </a:t>
              </a:r>
              <a:r>
                <a:rPr b="0" lang="en" sz="72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Daily automated batch reconciliation protocols (KAN-10).</a:t>
              </a:r>
              <a:endParaRPr b="1" sz="72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API Rate Limits</a:t>
              </a:r>
              <a:endParaRPr b="1" sz="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76200" marR="0" rtl="0" algn="l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Legacy database bottlenecks during peak times.</a:t>
              </a:r>
              <a:endParaRPr b="0" sz="7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76200" marR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72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Mitigation: </a:t>
              </a:r>
              <a:r>
                <a:rPr b="0" lang="en" sz="72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Read-only caching &amp; dual-store logging buffers.</a:t>
              </a:r>
              <a:endParaRPr b="1" sz="72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7" name="Google Shape;217;p22"/>
          <p:cNvGrpSpPr/>
          <p:nvPr/>
        </p:nvGrpSpPr>
        <p:grpSpPr>
          <a:xfrm>
            <a:off x="3238500" y="762000"/>
            <a:ext cx="2667000" cy="2809950"/>
            <a:chOff x="0" y="0"/>
            <a:chExt cx="2667000" cy="2809950"/>
          </a:xfrm>
        </p:grpSpPr>
        <p:sp>
          <p:nvSpPr>
            <p:cNvPr id="218" name="Google Shape;218;p22"/>
            <p:cNvSpPr/>
            <p:nvPr/>
          </p:nvSpPr>
          <p:spPr>
            <a:xfrm>
              <a:off x="0" y="0"/>
              <a:ext cx="2667000" cy="2809800"/>
            </a:xfrm>
            <a:prstGeom prst="roundRect">
              <a:avLst>
                <a:gd fmla="val 3571" name="adj"/>
              </a:avLst>
            </a:prstGeom>
            <a:solidFill>
              <a:srgbClr val="F0F9FF"/>
            </a:solidFill>
            <a:ln cap="flat" cmpd="sng" w="14300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2"/>
            <p:cNvSpPr/>
            <p:nvPr/>
          </p:nvSpPr>
          <p:spPr>
            <a:xfrm>
              <a:off x="0" y="0"/>
              <a:ext cx="26670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2"/>
            <p:cNvSpPr txBox="1"/>
            <p:nvPr/>
          </p:nvSpPr>
          <p:spPr>
            <a:xfrm>
              <a:off x="0" y="57150"/>
              <a:ext cx="2667000" cy="275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GOVERNANCE &amp; COMPLIANCE</a:t>
              </a:r>
              <a:endParaRPr b="1" sz="7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0369A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Regulatory &amp; Data Exposure</a:t>
              </a:r>
              <a:endParaRPr b="0" sz="1150">
                <a:solidFill>
                  <a:srgbClr val="0369A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FCA Non-Compliance</a:t>
              </a:r>
              <a:endParaRPr b="1" sz="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76200" marR="0" rtl="0" algn="l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Audit trails failing statutory standards.</a:t>
              </a:r>
              <a:endParaRPr b="0" sz="7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76200" marR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72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Mitigation: </a:t>
              </a:r>
              <a:r>
                <a:rPr b="0" lang="en" sz="72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Immutable dual-store audit logging with 6yr retention (KAN-8).</a:t>
              </a:r>
              <a:endParaRPr b="1" sz="72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GDPR &amp; PII Exposure</a:t>
              </a:r>
              <a:endParaRPr b="1" sz="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76200" marR="0" rtl="0" algn="l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Unintended data leaks during drop-offs.</a:t>
              </a:r>
              <a:endParaRPr b="0" sz="7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76200" marR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72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Mitigation: </a:t>
              </a:r>
              <a:r>
                <a:rPr b="0" lang="en" sz="72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Pre-auth shields, zero PII, and 13m timeouts (KAN-4, KAN-14).</a:t>
              </a:r>
              <a:endParaRPr b="1" sz="72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Vulnerable Exposure</a:t>
              </a:r>
              <a:endParaRPr b="1" sz="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76200" marR="0" rtl="0" algn="l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Inappropriate collection attempts.</a:t>
              </a:r>
              <a:endParaRPr b="0" sz="7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76200" marR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72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Mitigation: </a:t>
              </a:r>
              <a:r>
                <a:rPr b="0" lang="en" sz="72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30-day "Breathing Space" hardship freezes (KAN-11).</a:t>
              </a:r>
              <a:endParaRPr b="1" sz="72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1" name="Google Shape;221;p22"/>
          <p:cNvGrpSpPr/>
          <p:nvPr/>
        </p:nvGrpSpPr>
        <p:grpSpPr>
          <a:xfrm>
            <a:off x="6096000" y="762000"/>
            <a:ext cx="2667000" cy="2809950"/>
            <a:chOff x="0" y="0"/>
            <a:chExt cx="2667000" cy="2809950"/>
          </a:xfrm>
        </p:grpSpPr>
        <p:sp>
          <p:nvSpPr>
            <p:cNvPr id="222" name="Google Shape;222;p22"/>
            <p:cNvSpPr/>
            <p:nvPr/>
          </p:nvSpPr>
          <p:spPr>
            <a:xfrm>
              <a:off x="0" y="0"/>
              <a:ext cx="2667000" cy="2809800"/>
            </a:xfrm>
            <a:prstGeom prst="roundRect">
              <a:avLst>
                <a:gd fmla="val 3571" name="adj"/>
              </a:avLst>
            </a:prstGeom>
            <a:solidFill>
              <a:srgbClr val="FFFFFF"/>
            </a:solidFill>
            <a:ln cap="flat" cmpd="sng" w="9525">
              <a:solidFill>
                <a:srgbClr val="99F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2"/>
            <p:cNvSpPr/>
            <p:nvPr/>
          </p:nvSpPr>
          <p:spPr>
            <a:xfrm>
              <a:off x="0" y="0"/>
              <a:ext cx="26670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2"/>
            <p:cNvSpPr txBox="1"/>
            <p:nvPr/>
          </p:nvSpPr>
          <p:spPr>
            <a:xfrm>
              <a:off x="0" y="57150"/>
              <a:ext cx="2667000" cy="275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0D9488"/>
                  </a:solidFill>
                  <a:latin typeface="Inter"/>
                  <a:ea typeface="Inter"/>
                  <a:cs typeface="Inter"/>
                  <a:sym typeface="Inter"/>
                </a:rPr>
                <a:t>ADOPTION &amp; HANDOFF</a:t>
              </a:r>
              <a:endParaRPr b="1" sz="75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0F766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User Experience &amp; Routing</a:t>
              </a:r>
              <a:endParaRPr b="0" sz="1150">
                <a:solidFill>
                  <a:srgbClr val="0F766E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Customer Repetition</a:t>
              </a:r>
              <a:endParaRPr b="1" sz="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76200" marR="0" rtl="0" algn="l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Frustration when escalated to agents.</a:t>
              </a:r>
              <a:endParaRPr b="0" sz="7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76200" marR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720">
                  <a:solidFill>
                    <a:srgbClr val="0D9488"/>
                  </a:solidFill>
                  <a:latin typeface="Inter"/>
                  <a:ea typeface="Inter"/>
                  <a:cs typeface="Inter"/>
                  <a:sym typeface="Inter"/>
                </a:rPr>
                <a:t>Mitigation: </a:t>
              </a:r>
              <a:r>
                <a:rPr b="0" lang="en" sz="72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Context-aware specialist handoff drawers (KAN-15).</a:t>
              </a:r>
              <a:endParaRPr b="1" sz="72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Mishandled Disputes</a:t>
              </a:r>
              <a:endParaRPr b="1" sz="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76200" marR="0" rtl="0" algn="l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Incorrect resolution pathways.</a:t>
              </a:r>
              <a:endParaRPr b="0" sz="7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76200" marR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720">
                  <a:solidFill>
                    <a:srgbClr val="0D9488"/>
                  </a:solidFill>
                  <a:latin typeface="Inter"/>
                  <a:ea typeface="Inter"/>
                  <a:cs typeface="Inter"/>
                  <a:sym typeface="Inter"/>
                </a:rPr>
                <a:t>Mitigation: </a:t>
              </a:r>
              <a:r>
                <a:rPr b="0" lang="en" sz="72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Rules-based automated triage for complex accounts (KAN-7).</a:t>
              </a:r>
              <a:endParaRPr b="1" sz="72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• Self-Service Drop-off</a:t>
              </a:r>
              <a:endParaRPr b="1" sz="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76200" marR="0" rtl="0" algn="l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Incomplete journeys causing churn.</a:t>
              </a:r>
              <a:endParaRPr b="0" sz="7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76200" marR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720">
                  <a:solidFill>
                    <a:srgbClr val="0D9488"/>
                  </a:solidFill>
                  <a:latin typeface="Inter"/>
                  <a:ea typeface="Inter"/>
                  <a:cs typeface="Inter"/>
                  <a:sym typeface="Inter"/>
                </a:rPr>
                <a:t>Mitigation: </a:t>
              </a:r>
              <a:r>
                <a:rPr b="0" lang="en" sz="72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48-hour contact suppression on session expiry.</a:t>
              </a:r>
              <a:endParaRPr b="1" sz="72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5" name="Google Shape;225;p22"/>
          <p:cNvGrpSpPr/>
          <p:nvPr/>
        </p:nvGrpSpPr>
        <p:grpSpPr>
          <a:xfrm>
            <a:off x="381000" y="3714750"/>
            <a:ext cx="8382000" cy="1162200"/>
            <a:chOff x="0" y="0"/>
            <a:chExt cx="8382000" cy="1162200"/>
          </a:xfrm>
        </p:grpSpPr>
        <p:sp>
          <p:nvSpPr>
            <p:cNvPr id="226" name="Google Shape;226;p22"/>
            <p:cNvSpPr/>
            <p:nvPr/>
          </p:nvSpPr>
          <p:spPr>
            <a:xfrm>
              <a:off x="0" y="0"/>
              <a:ext cx="8382000" cy="1162200"/>
            </a:xfrm>
            <a:prstGeom prst="roundRect">
              <a:avLst>
                <a:gd fmla="val 8196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2"/>
            <p:cNvSpPr txBox="1"/>
            <p:nvPr/>
          </p:nvSpPr>
          <p:spPr>
            <a:xfrm>
              <a:off x="0" y="0"/>
              <a:ext cx="8382000" cy="1162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171450" lIns="228600" spcFirstLastPara="1" rIns="228600" wrap="square" tIns="17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CHANGE RISK MANAGEMENT &amp; SAFEGUARD SUMMARY</a:t>
              </a:r>
              <a:endParaRPr b="1" sz="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4ADE80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Zero</a:t>
              </a:r>
              <a:r>
                <a:rPr b="1" lang="en" sz="7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85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PII Exposure     </a:t>
              </a:r>
              <a:r>
                <a:rPr b="0" lang="en" sz="15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6-Year</a:t>
              </a:r>
              <a:r>
                <a:rPr b="1" lang="en" sz="7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85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FCA Immutable Audit     </a:t>
              </a:r>
              <a:r>
                <a:rPr b="0" lang="en" sz="1500">
                  <a:solidFill>
                    <a:srgbClr val="FACC15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100%</a:t>
              </a:r>
              <a:r>
                <a:rPr b="1" lang="en" sz="7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85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Automated Triage Coverage</a:t>
              </a:r>
              <a:endParaRPr b="1" sz="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0" lang="en" sz="80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Smart-Recovery Governance Framework</a:t>
              </a:r>
              <a:r>
                <a:rPr b="0" lang="en" sz="8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embeds automated compliance freezes, rules-based triage, and dual-store audit logging to mitigate operational and regulatory risks prior to production rollout.</a:t>
              </a:r>
              <a:endParaRPr b="1" sz="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"/>
          <p:cNvSpPr txBox="1"/>
          <p:nvPr/>
        </p:nvSpPr>
        <p:spPr>
          <a:xfrm>
            <a:off x="381000" y="209550"/>
            <a:ext cx="8382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Final Conclusions &amp; Strategic Value</a:t>
            </a:r>
            <a:endParaRPr b="0" sz="20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Summary of delivery readiness, financial impact, compliance posture, and next steps</a:t>
            </a:r>
            <a:endParaRPr b="0" sz="95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233" name="Google Shape;233;p23"/>
          <p:cNvGrpSpPr/>
          <p:nvPr/>
        </p:nvGrpSpPr>
        <p:grpSpPr>
          <a:xfrm>
            <a:off x="381000" y="781050"/>
            <a:ext cx="2610000" cy="2495700"/>
            <a:chOff x="0" y="0"/>
            <a:chExt cx="2610000" cy="2495700"/>
          </a:xfrm>
        </p:grpSpPr>
        <p:sp>
          <p:nvSpPr>
            <p:cNvPr id="234" name="Google Shape;234;p23"/>
            <p:cNvSpPr/>
            <p:nvPr/>
          </p:nvSpPr>
          <p:spPr>
            <a:xfrm>
              <a:off x="0" y="0"/>
              <a:ext cx="2610000" cy="2495700"/>
            </a:xfrm>
            <a:prstGeom prst="roundRect">
              <a:avLst>
                <a:gd fmla="val 381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3"/>
            <p:cNvSpPr/>
            <p:nvPr/>
          </p:nvSpPr>
          <p:spPr>
            <a:xfrm>
              <a:off x="0" y="0"/>
              <a:ext cx="2610000" cy="477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3"/>
            <p:cNvSpPr txBox="1"/>
            <p:nvPr/>
          </p:nvSpPr>
          <p:spPr>
            <a:xfrm>
              <a:off x="0" y="47625"/>
              <a:ext cx="2610000" cy="24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3350" lIns="171450" spcFirstLastPara="1" rIns="171450" wrap="square" tIns="17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DELIVERY READINESS</a:t>
              </a:r>
              <a:endParaRPr b="0" sz="75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Validated Prototype Scope</a:t>
              </a:r>
              <a:endParaRPr b="0" sz="1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825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850"/>
                <a:buFont typeface="Inter"/>
                <a:buChar char="●"/>
              </a:pPr>
              <a:r>
                <a:rPr b="1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Prototype Status:</a:t>
              </a:r>
              <a:r>
                <a:rPr lang="en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9-screen interactive prototype mapped to backlog epics.</a:t>
              </a:r>
              <a:endParaRPr sz="8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850"/>
                <a:buFont typeface="Inter"/>
                <a:buChar char="●"/>
              </a:pPr>
              <a:r>
                <a:rPr b="1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Phase 1 Objective:</a:t>
              </a:r>
              <a:r>
                <a:rPr lang="en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Build &amp; transition prototype into a live solution.</a:t>
              </a:r>
              <a:endParaRPr sz="8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850"/>
                <a:buFont typeface="Inter"/>
                <a:buChar char="●"/>
              </a:pPr>
              <a:r>
                <a:rPr b="1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Defined Focus:</a:t>
              </a:r>
              <a:r>
                <a:rPr lang="en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Execute core journeys, reconciliation, and sync tasks.</a:t>
              </a:r>
              <a:endParaRPr sz="8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7" name="Google Shape;237;p23"/>
          <p:cNvGrpSpPr/>
          <p:nvPr/>
        </p:nvGrpSpPr>
        <p:grpSpPr>
          <a:xfrm>
            <a:off x="3267075" y="781050"/>
            <a:ext cx="2610000" cy="2495700"/>
            <a:chOff x="0" y="0"/>
            <a:chExt cx="2610000" cy="2495700"/>
          </a:xfrm>
        </p:grpSpPr>
        <p:sp>
          <p:nvSpPr>
            <p:cNvPr id="238" name="Google Shape;238;p23"/>
            <p:cNvSpPr/>
            <p:nvPr/>
          </p:nvSpPr>
          <p:spPr>
            <a:xfrm>
              <a:off x="0" y="0"/>
              <a:ext cx="2610000" cy="2495700"/>
            </a:xfrm>
            <a:prstGeom prst="roundRect">
              <a:avLst>
                <a:gd fmla="val 3816" name="adj"/>
              </a:avLst>
            </a:prstGeom>
            <a:solidFill>
              <a:srgbClr val="F0F9FF"/>
            </a:solidFill>
            <a:ln cap="flat" cmpd="sng" w="9525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3"/>
            <p:cNvSpPr/>
            <p:nvPr/>
          </p:nvSpPr>
          <p:spPr>
            <a:xfrm>
              <a:off x="0" y="0"/>
              <a:ext cx="2610000" cy="477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3"/>
            <p:cNvSpPr txBox="1"/>
            <p:nvPr/>
          </p:nvSpPr>
          <p:spPr>
            <a:xfrm>
              <a:off x="0" y="47625"/>
              <a:ext cx="2610000" cy="24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3350" lIns="171450" spcFirstLastPara="1" rIns="171450" wrap="square" tIns="17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FINANCIAL ROI &amp; IMPACT</a:t>
              </a:r>
              <a:endParaRPr b="0" sz="75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369A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High Return &amp; Fast Payback</a:t>
              </a:r>
              <a:endParaRPr b="0" sz="1200">
                <a:solidFill>
                  <a:srgbClr val="0369A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825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850"/>
                <a:buFont typeface="Inter"/>
                <a:buChar char="●"/>
              </a:pPr>
              <a:r>
                <a:rPr b="1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Value Realization:</a:t>
              </a:r>
              <a:r>
                <a:rPr lang="en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£2.40M annual value via revenue &amp; savings.</a:t>
              </a:r>
              <a:endParaRPr sz="8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850"/>
                <a:buFont typeface="Inter"/>
                <a:buChar char="●"/>
              </a:pPr>
              <a:r>
                <a:rPr b="1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Rapid Recovery:</a:t>
              </a:r>
              <a:r>
                <a:rPr lang="en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&lt; 2-month payback against £260k build cost.</a:t>
              </a:r>
              <a:endParaRPr sz="8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850"/>
                <a:buFont typeface="Inter"/>
                <a:buChar char="●"/>
              </a:pPr>
              <a:r>
                <a:rPr b="1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Efficiency Gain:</a:t>
              </a:r>
              <a:r>
                <a:rPr lang="en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2,400+ frontline staff hours saved annually.</a:t>
              </a:r>
              <a:endParaRPr sz="8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1" name="Google Shape;241;p23"/>
          <p:cNvGrpSpPr/>
          <p:nvPr/>
        </p:nvGrpSpPr>
        <p:grpSpPr>
          <a:xfrm>
            <a:off x="6153150" y="781050"/>
            <a:ext cx="2610000" cy="2495700"/>
            <a:chOff x="0" y="0"/>
            <a:chExt cx="2610000" cy="2495700"/>
          </a:xfrm>
        </p:grpSpPr>
        <p:sp>
          <p:nvSpPr>
            <p:cNvPr id="242" name="Google Shape;242;p23"/>
            <p:cNvSpPr/>
            <p:nvPr/>
          </p:nvSpPr>
          <p:spPr>
            <a:xfrm>
              <a:off x="0" y="0"/>
              <a:ext cx="2610000" cy="2495700"/>
            </a:xfrm>
            <a:prstGeom prst="roundRect">
              <a:avLst>
                <a:gd fmla="val 381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3"/>
            <p:cNvSpPr/>
            <p:nvPr/>
          </p:nvSpPr>
          <p:spPr>
            <a:xfrm>
              <a:off x="0" y="0"/>
              <a:ext cx="2610000" cy="477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3"/>
            <p:cNvSpPr txBox="1"/>
            <p:nvPr/>
          </p:nvSpPr>
          <p:spPr>
            <a:xfrm>
              <a:off x="0" y="47625"/>
              <a:ext cx="2610000" cy="24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3350" lIns="171450" spcFirstLastPara="1" rIns="171450" wrap="square" tIns="17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0D948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GOVERNANCE &amp; SAFEGUARDS</a:t>
              </a:r>
              <a:endParaRPr b="0" sz="750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766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Regulatory Integrity</a:t>
              </a:r>
              <a:endParaRPr b="0" sz="1200">
                <a:solidFill>
                  <a:srgbClr val="0F766E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825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850"/>
                <a:buFont typeface="Inter"/>
                <a:buChar char="●"/>
              </a:pPr>
              <a:r>
                <a:rPr b="1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FCA Audit Standards:</a:t>
              </a:r>
              <a:r>
                <a:rPr lang="en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Immutable logging with 6-yr retention.</a:t>
              </a:r>
              <a:endParaRPr sz="8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850"/>
                <a:buFont typeface="Inter"/>
                <a:buChar char="●"/>
              </a:pPr>
              <a:r>
                <a:rPr b="1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GDPR Shields:</a:t>
              </a:r>
              <a:r>
                <a:rPr lang="en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Pre-auth shields &amp; 30-day "Breathing Space".</a:t>
              </a:r>
              <a:endParaRPr sz="8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850"/>
                <a:buFont typeface="Inter"/>
                <a:buChar char="●"/>
              </a:pPr>
              <a:r>
                <a:rPr b="1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Seamless Escalation:</a:t>
              </a:r>
              <a:r>
                <a:rPr lang="en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Contextual drawers prevent repetition.</a:t>
              </a:r>
              <a:endParaRPr sz="8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5" name="Google Shape;245;p23"/>
          <p:cNvGrpSpPr/>
          <p:nvPr/>
        </p:nvGrpSpPr>
        <p:grpSpPr>
          <a:xfrm>
            <a:off x="381000" y="3448050"/>
            <a:ext cx="8382000" cy="1447800"/>
            <a:chOff x="0" y="0"/>
            <a:chExt cx="8382000" cy="1447800"/>
          </a:xfrm>
        </p:grpSpPr>
        <p:sp>
          <p:nvSpPr>
            <p:cNvPr id="246" name="Google Shape;246;p23"/>
            <p:cNvSpPr/>
            <p:nvPr/>
          </p:nvSpPr>
          <p:spPr>
            <a:xfrm>
              <a:off x="0" y="0"/>
              <a:ext cx="8382000" cy="1447800"/>
            </a:xfrm>
            <a:prstGeom prst="roundRect">
              <a:avLst>
                <a:gd fmla="val 7894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3"/>
            <p:cNvSpPr txBox="1"/>
            <p:nvPr/>
          </p:nvSpPr>
          <p:spPr>
            <a:xfrm>
              <a:off x="0" y="0"/>
              <a:ext cx="83820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450" lIns="228600" spcFirstLastPara="1" rIns="228600" wrap="square" tIns="17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94A3B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EXECUTIVE SUMMARY &amp; DEPLOYMENT RECOMMENDATION</a:t>
              </a:r>
              <a:endParaRPr b="0" sz="750">
                <a:solidFill>
                  <a:srgbClr val="94A3B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£2.40M</a:t>
              </a:r>
              <a:r>
                <a:rPr lang="en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85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Annual Impact</a:t>
              </a:r>
              <a:r>
                <a:rPr lang="en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600">
                  <a:solidFill>
                    <a:srgbClr val="4ADE80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823%</a:t>
              </a:r>
              <a:r>
                <a:rPr lang="en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85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Projected ROI</a:t>
              </a:r>
              <a:r>
                <a:rPr lang="en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600">
                  <a:solidFill>
                    <a:srgbClr val="FACC15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100%</a:t>
              </a:r>
              <a:r>
                <a:rPr lang="en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85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Traceability Coverage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Recommendation:</a:t>
              </a:r>
              <a:r>
                <a:rPr lang="en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Proceed with </a:t>
              </a:r>
              <a:r>
                <a:rPr b="1" lang="en" sz="8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Phase 1 implementation</a:t>
              </a:r>
              <a:r>
                <a:rPr lang="en" sz="8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to convert the interactive prototype into a usable software solution, focusing strictly on core journeys and compliance safeguards.</a:t>
              </a:r>
              <a:endParaRPr sz="8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